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sldIdLst>
    <p:sldId id="2134805691" r:id="rId5"/>
    <p:sldId id="2134805822" r:id="rId6"/>
    <p:sldId id="2134805823" r:id="rId7"/>
    <p:sldId id="2134805824" r:id="rId8"/>
    <p:sldId id="2134805825" r:id="rId9"/>
    <p:sldId id="2134805826" r:id="rId10"/>
    <p:sldId id="2134805827" r:id="rId11"/>
    <p:sldId id="2134805828" r:id="rId12"/>
    <p:sldId id="2134805829" r:id="rId13"/>
    <p:sldId id="2134805830" r:id="rId14"/>
    <p:sldId id="2134805831" r:id="rId15"/>
    <p:sldId id="2134805832" r:id="rId16"/>
    <p:sldId id="2134805833" r:id="rId17"/>
    <p:sldId id="2134805834" r:id="rId18"/>
    <p:sldId id="2134805805" r:id="rId19"/>
    <p:sldId id="2134805807" r:id="rId20"/>
    <p:sldId id="2134805754" r:id="rId21"/>
    <p:sldId id="2134805773" r:id="rId22"/>
    <p:sldId id="2134805791" r:id="rId23"/>
    <p:sldId id="2134805775" r:id="rId24"/>
    <p:sldId id="2134805780" r:id="rId25"/>
    <p:sldId id="2134805795" r:id="rId26"/>
    <p:sldId id="2134805796" r:id="rId27"/>
    <p:sldId id="2134805797" r:id="rId28"/>
    <p:sldId id="2134805808" r:id="rId29"/>
    <p:sldId id="2134805781" r:id="rId30"/>
    <p:sldId id="2134805782" r:id="rId31"/>
    <p:sldId id="2134805783" r:id="rId32"/>
    <p:sldId id="2134805784" r:id="rId33"/>
    <p:sldId id="2134805809" r:id="rId34"/>
    <p:sldId id="2134805787" r:id="rId35"/>
    <p:sldId id="2134805786" r:id="rId36"/>
    <p:sldId id="2134805811" r:id="rId37"/>
    <p:sldId id="2134805788" r:id="rId38"/>
    <p:sldId id="2134805789" r:id="rId39"/>
    <p:sldId id="2134805621" r:id="rId40"/>
    <p:sldId id="2134805816" r:id="rId41"/>
    <p:sldId id="2134805817" r:id="rId42"/>
    <p:sldId id="2134805818" r:id="rId43"/>
    <p:sldId id="2134805819" r:id="rId44"/>
    <p:sldId id="2134805736" r:id="rId45"/>
    <p:sldId id="2134805821" r:id="rId46"/>
    <p:sldId id="2134805820" r:id="rId47"/>
    <p:sldId id="2134805793" r:id="rId48"/>
    <p:sldId id="2134805652" r:id="rId49"/>
    <p:sldId id="213480580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CBD9BD-BC6C-44A9-B3A2-F5BCCA23F69F}">
          <p14:sldIdLst>
            <p14:sldId id="2134805691"/>
            <p14:sldId id="2134805822"/>
            <p14:sldId id="2134805823"/>
            <p14:sldId id="2134805824"/>
            <p14:sldId id="2134805825"/>
            <p14:sldId id="2134805826"/>
            <p14:sldId id="2134805827"/>
            <p14:sldId id="2134805828"/>
            <p14:sldId id="2134805829"/>
            <p14:sldId id="2134805830"/>
            <p14:sldId id="2134805831"/>
            <p14:sldId id="2134805832"/>
            <p14:sldId id="2134805833"/>
            <p14:sldId id="2134805834"/>
            <p14:sldId id="2134805805"/>
            <p14:sldId id="2134805807"/>
            <p14:sldId id="2134805754"/>
            <p14:sldId id="2134805773"/>
            <p14:sldId id="2134805791"/>
            <p14:sldId id="2134805775"/>
            <p14:sldId id="2134805780"/>
            <p14:sldId id="2134805795"/>
            <p14:sldId id="2134805796"/>
            <p14:sldId id="2134805797"/>
            <p14:sldId id="2134805808"/>
            <p14:sldId id="2134805781"/>
            <p14:sldId id="2134805782"/>
            <p14:sldId id="2134805783"/>
            <p14:sldId id="2134805784"/>
            <p14:sldId id="2134805809"/>
            <p14:sldId id="2134805787"/>
            <p14:sldId id="2134805786"/>
            <p14:sldId id="2134805811"/>
            <p14:sldId id="2134805788"/>
            <p14:sldId id="2134805789"/>
            <p14:sldId id="2134805621"/>
            <p14:sldId id="2134805816"/>
            <p14:sldId id="2134805817"/>
            <p14:sldId id="2134805818"/>
            <p14:sldId id="2134805819"/>
            <p14:sldId id="2134805736"/>
            <p14:sldId id="2134805821"/>
            <p14:sldId id="2134805820"/>
            <p14:sldId id="2134805793"/>
            <p14:sldId id="2134805652"/>
          </p14:sldIdLst>
        </p14:section>
        <p14:section name="Untitled Section" id="{49F7AFEA-0EE0-450D-8109-189B86BF0219}">
          <p14:sldIdLst/>
        </p14:section>
        <p14:section name="Default Section" id="{B23D4FCC-6A03-4C05-9ABE-7059D762C8BA}">
          <p14:sldIdLst>
            <p14:sldId id="2134805803"/>
          </p14:sldIdLst>
        </p14:section>
        <p14:section name="Untitled Section" id="{F2051B33-177C-4807-900E-CC241D50C15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2799" autoAdjust="0"/>
  </p:normalViewPr>
  <p:slideViewPr>
    <p:cSldViewPr snapToGrid="0">
      <p:cViewPr varScale="1">
        <p:scale>
          <a:sx n="128" d="100"/>
          <a:sy n="128" d="100"/>
        </p:scale>
        <p:origin x="15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EC83B-3230-4009-B695-9D91DB49E46A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18D81-5DC8-4D88-B9CD-FA4E5E9CE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4119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BA811-A416-A89B-9054-D028A78A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6CB6A-0909-D577-CEC5-98EE28F30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9D0BC-1E37-6164-05C3-D23EF0801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65F1B-7D9A-AE25-96A5-BFF8909E1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99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3D062-35F0-F346-AD76-8277D098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247EA-3A8E-812B-D716-D7F903655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BFA9B-C8EF-DAE4-C0C3-5B9E8C310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7A9B7-4AC2-4D14-5ABD-5A471F491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918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5335-7D53-8522-BC68-274BD601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4F5F5-875B-A5EC-6525-21A63B39C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75C7D-2925-82DA-0ABF-070C770DC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BC580-1173-8A9F-ED2B-3CEAFFBEF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1470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4096-07B3-0C48-8D01-DF94A91E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EB2EC-5B79-D334-0CB3-5B9115527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DA287-A352-D938-9707-BA2E47A7E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4E5A3-3C1C-9695-4B4E-75F04AF8F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82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2D06-FA87-AEEA-F47D-7CA2C74A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4D7BD-179D-518C-F092-099D877FF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707A2-9859-F993-C6E9-27EC8407A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A54DF-A3E6-6D31-00CF-559363DE5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724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6F1D-1153-001B-1D2D-A980D68A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AE812-69C9-B140-6F7D-2462D64B6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DC660-DCA1-7729-985B-0BF5A7782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63E6C-E0AB-94FC-8715-A2B774C8B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836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A5C9-EC78-0676-E758-82130D79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2BF41-0D62-9A78-978F-21A8070C2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8A1E-C341-ABF9-CB4B-ED162EDEC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1FBA8-FD27-EF1F-4178-46E84758A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731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00A5-53FC-3323-E063-737730A1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FC2CF-F4D4-74D3-3C25-14A7EF1C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F7AA3-7C1E-4278-79FF-F39E4824C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74223-A13F-041E-5CDD-CF6544815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959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6149-881A-EB3C-81C8-CBC1E3BE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9D1AB-A9D7-56C4-D6A5-017BE285A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B8252-46CA-46C7-BD68-6BFE05916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56108-AE6F-CF2E-3801-7477984F1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3234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18D81-5DC8-4D88-B9CD-FA4E5E9CEC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50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F46C0-90E3-D32C-DCB0-CE33B841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0E5D2-14DF-7311-D81D-543D4BF75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BFA88-8CC0-AA78-14B7-EAB079BD0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97149-1A7A-EAB9-25A0-5952B3360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548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BCD5-A99F-C266-A8EC-BF43A116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03A19-DD93-766D-952E-2EB801EF8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90560-7755-2073-3B1C-554FC030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EA1D1-350B-0923-3164-CA6312570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737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DD56-28CC-32EF-6A49-1ECFA9F9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07DCD-121C-19B1-767D-1C12DCBB4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FDEEA-7157-940A-C395-63353B132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47529-4BC0-E918-75F7-034A1184A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861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AA89-8DC5-BA30-A233-C2470368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94DD6-4793-70C6-594A-432950E9D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73B20-C382-41A1-DE4B-F15A9C324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F7FF2-BCC3-3806-AAE9-AF506ADAD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975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A355-BE31-7050-F3C2-9661CF55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B25A0-B645-75B9-B318-C0CEC0EF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7FAC9-F014-333F-C976-B7D18C745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13938-4D18-9E5D-884B-4F83820ED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588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B410-9A89-6BA9-FEAC-ABA94B6C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53D3A-2230-DEBA-5477-15A982F9A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E4E0F-4877-3064-18E3-36163ECEE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20F0D-33AE-BEC9-9AF3-4D5605B92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77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04FA-C7E6-9344-3798-4F13CE02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642F0-D68F-A909-242D-75FB5171E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F7FFE-DDC9-F2E3-B97B-E147A7250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656B4-1456-B3CE-7404-CF18D9E61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0893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D53A-7BCD-3E7B-CCF3-31925240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2CCB6-CA99-6AD2-7DD7-C1B88D167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7CDAD-DDA7-B5AF-5333-1C00EDEFB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63CAA-C2A1-17E5-3A10-79708DE27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9050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B51C1-2DF3-2E60-B09E-D285EB48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A5982-C9B4-3381-F3E8-07091922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C0A26-EF74-6E37-E061-916DB7874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is a quick overview of what I'll be covering today. </a:t>
            </a:r>
          </a:p>
          <a:p>
            <a:endParaRPr lang="en-GB" dirty="0"/>
          </a:p>
          <a:p>
            <a:r>
              <a:rPr lang="en-GB" dirty="0"/>
              <a:t>I'll start with the business problem and my project's objectives. </a:t>
            </a:r>
          </a:p>
          <a:p>
            <a:r>
              <a:rPr lang="en-GB" dirty="0"/>
              <a:t>Then, I'll walk you through the methodology used, from data exploration to the models I implemented. </a:t>
            </a:r>
          </a:p>
          <a:p>
            <a:r>
              <a:rPr lang="en-GB" dirty="0"/>
              <a:t>After that, I'll present my key results and analysis, and I'll conclude with the practical impact of this work and directions for the future.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BD9E6-4E24-2A6E-1586-6149664AE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212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669E-11A8-89C1-424E-114167D7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45725-D370-246F-CAFB-DB53FEDC5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5A910-92BA-61F7-C6E1-357884CD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FF02B-ED9C-1888-81B5-04EA2135D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555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2C50E-547C-0B50-7115-AA034EB1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4483F-D41D-BDCE-0560-462662A9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7F461-3898-8A3E-F03B-64CA32E23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B7F97-08E4-21E3-5953-080E5E8F6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6105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3EE8-6C73-2C30-A2A8-8A6DEAAD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D6E3D-1570-2DC5-9B8A-0B30782D8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4E6CC-E88C-9028-3C5F-04F7DB8D0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AF9D2-9C1F-7941-E469-2A83E2763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854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2B12-1085-97CE-45F3-BDCC5BAC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D947E-9F92-D5EC-5C83-5C0EFBCF5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44D64-AAB3-C75B-9C9A-D59565B51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E2F10-C7C2-54AF-651F-9A6954F51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248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9B4A-9EEF-8102-D59D-CCFB19BE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5A003-EA28-E6C2-1A96-4890AD257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51BE4-1500-E20E-EDF1-20ED1F142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C672D-DA00-36A9-EE8A-2D6750508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982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C1B77-0537-E740-9446-39E673E40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97C21-84E8-D3A5-CAF9-FD7020E04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ECDAB-782C-AEE7-D8FA-860BD4B6B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BDE3A-DD8B-B278-3AE1-8EF5A4683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004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"Now, let's move on to the results of my experiments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29843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85A6-81C0-978B-BD4D-685404D1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FE6BD-2FCF-0AB6-E71A-8CD6AEDF4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E5A14-A4F5-4DBA-79B7-97EC0844C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70DE3-8F19-CF24-344B-E66C01B58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737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6AD0-9AB3-366E-42B5-964338F7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43D6A-C263-A2D3-0DA0-DC67D07E7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BCB81-0FFD-004D-5F2F-976E30C80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C1CA5-FC5A-804F-8A9F-96B11A384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4126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A38E2A-07E5-4D28-9AFE-3061718B830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094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EDC1-AAC9-6F0C-7272-972D20E6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A47D2-819B-4CB3-ED93-DEEC7487C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5A8B3-6A1C-534E-33B6-4C93F14C2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318D8-833C-2E03-6C10-939AD3690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663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EEC1-096F-38EF-A1CE-919152D19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C2859-4FCD-9223-32C6-BF360CE10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91B6-BBB7-5094-AA59-8B7C835B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AACC5-0250-0147-D334-E4D16D5C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293D-8793-180A-52F9-24DD31FD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4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31E5-87E1-7934-013A-B75E7D19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95F3E-8295-5D04-5FF9-EA4A9C27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BDD3-4813-920E-89A3-837240AE7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63E3-85FD-FC7E-07C5-304DE354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F9FF2-9183-7E8B-F402-3CB58825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1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3C20-492D-81AF-F47E-A84AA163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73D90-489D-9140-5554-5EE82454E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0B49-E614-357F-8A8E-C9431810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D1AD9-4029-4859-2CEF-E3BB3156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CFB6D-88DB-6F3C-9870-5669F571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9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0237-F456-3095-A890-A368EB0E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053C-019C-3DD4-C4A0-F8A012D34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A7EE-74F0-FC76-0DFA-CD58F9986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C429A-C80E-2F57-1C65-A5EA7481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C70D9-78F8-C2A4-C507-5F90F1E5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08339-E2B4-BD59-77A7-0ECFFAA0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2470-FAFD-67E8-77E7-980CB997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DCFE-2875-11FD-02F2-C0C90FD6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8AAF3-34C0-32CA-53E1-60A39EDB6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7907D-503C-37BD-F45A-3C1786FF7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2FD40-D68A-6E45-6A35-84099E97B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B90FC-F0B2-B4AD-BDD1-8B74F059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7C5CA2-18FC-4729-061D-19313510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7EC8F-3B15-1E4E-4136-49B3BE6B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5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478D-7D62-7261-BFC9-1476648C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BB47A-9A09-3AF2-080C-76282E9DF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F8807-D480-C740-C4CE-D8467339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C5683-E4E4-4085-E264-DE8F9C5C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2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8287A-CBB0-6175-02E6-044194B5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A842F-8763-7D0D-278E-01C675B2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7AC4-4B83-8AF1-CF30-BBB4353D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6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9D23-D6ED-6D1F-D165-E6ADD0854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7D359-E79C-881B-5C34-9C19DF44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2B2-0777-3E92-489E-1852BA1D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7CAF3-E9AD-226B-9B17-7E29E25F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8DC66-DFEF-D7AB-47D8-64C84CC0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BEA41-11C8-7701-3D52-346970A9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4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542C-827E-B81E-46AE-95C78CE9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85F7B-07BD-2DAB-5868-FB0D61B2B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F5F5E-FD33-D6BE-9BF4-87D7CDEF2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3C8F4-FC2C-F099-8D1D-07618535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2741A-FC2C-BBDD-BD7A-1D9B3933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378BB-CABC-3C65-6EEA-0ADD7EF1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3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ADA6-6E33-2419-2B58-40401EF7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15CF0-84AA-5C8A-F107-25AF0321C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E1488-D980-672F-2A66-21726165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3AC0A-B22F-2439-6973-5B11E180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E0C3B-3E27-048F-799B-752F17DC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3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DB7D4-7A65-2210-5099-D3A3816D6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1FB67-0783-426C-F8E2-2A4A45078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52F8D-C14F-C7AF-88B1-F01A8A3D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332E-AEE3-B5E0-D7B5-71A5712C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B1389-85EA-39AD-3186-52F8594B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66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go - Title Slide -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5">
            <a:extLst>
              <a:ext uri="{FF2B5EF4-FFF2-40B4-BE49-F238E27FC236}">
                <a16:creationId xmlns:a16="http://schemas.microsoft.com/office/drawing/2014/main" id="{FF872486-6E5F-4A93-BF59-FE96F29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50" y="1956682"/>
            <a:ext cx="10515058" cy="84023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0" lang="en-US" sz="5400" b="0" i="0" u="none" strike="noStrike" kern="0" cap="none" spc="-52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T Curve Headline" panose="020B0603020203020204" pitchFamily="34" charset="0"/>
                <a:ea typeface="+mj-ea"/>
                <a:cs typeface="BT Curve Headline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1D94926-E68F-4D4D-A484-D29154CA4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750" y="3961898"/>
            <a:ext cx="10515058" cy="400238"/>
          </a:xfrm>
          <a:prstGeom prst="rect">
            <a:avLst/>
          </a:prstGeom>
        </p:spPr>
        <p:txBody>
          <a:bodyPr>
            <a:spAutoFit/>
          </a:bodyPr>
          <a:lstStyle>
            <a:lvl1pPr marL="7701" indent="0">
              <a:buNone/>
              <a:defRPr kumimoji="0" lang="en-GB" sz="2001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T Curve" panose="020B0503020203020204" pitchFamily="34" charset="0"/>
                <a:ea typeface="+mj-ea"/>
                <a:cs typeface="BT Curve" panose="020B0503020203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84951" marR="0" lvl="0" indent="-277250" defTabSz="554500" eaLnBrk="1" fontAlgn="auto" latinLnBrk="0" hangingPunct="1">
              <a:lnSpc>
                <a:spcPct val="100000"/>
              </a:lnSpc>
              <a:spcBef>
                <a:spcPts val="9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41612B9-08F0-4560-8ADE-1F94330BE2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91750" y="6180103"/>
            <a:ext cx="4826311" cy="32265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lang="en-US" sz="2001" b="0" smtClean="0">
                <a:solidFill>
                  <a:srgbClr val="FFFFFF"/>
                </a:solidFill>
                <a:latin typeface="BT Curve" panose="020B0503020203020204" pitchFamily="34" charset="0"/>
                <a:cs typeface="BT Curve" panose="020B0503020203020204" pitchFamily="34" charset="0"/>
              </a:defRPr>
            </a:lvl1pPr>
          </a:lstStyle>
          <a:p>
            <a:pPr marL="7701">
              <a:spcBef>
                <a:spcPts val="69"/>
              </a:spcBef>
            </a:pPr>
            <a:fld id="{CF066B5D-0765-4918-B01D-CE1509138FBC}" type="datetime4">
              <a:rPr lang="en-GB" smtClean="0"/>
              <a:pPr marL="7701">
                <a:spcBef>
                  <a:spcPts val="69"/>
                </a:spcBef>
              </a:pPr>
              <a:t>18 April 2026</a:t>
            </a:fld>
            <a:endParaRPr lang="en-GB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817F9A5-E848-4CA5-3E50-46E30AC29C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023" y="164306"/>
            <a:ext cx="1520520" cy="152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5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Divider - 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5">
            <a:extLst>
              <a:ext uri="{FF2B5EF4-FFF2-40B4-BE49-F238E27FC236}">
                <a16:creationId xmlns:a16="http://schemas.microsoft.com/office/drawing/2014/main" id="{FF872486-6E5F-4A93-BF59-FE96F29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95" y="1996560"/>
            <a:ext cx="4827965" cy="396501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kumimoji="0" lang="en-GB" sz="3600" b="0" i="0" u="none" strike="noStrike" kern="0" cap="none" spc="0" normalizeH="0" baseline="0" dirty="0">
                <a:ln>
                  <a:noFill/>
                </a:ln>
                <a:solidFill>
                  <a:srgbClr val="5B15C1"/>
                </a:solidFill>
                <a:effectLst/>
                <a:uLnTx/>
                <a:uFillTx/>
                <a:latin typeface="BT Curve Headline" panose="020B0603020203020204" pitchFamily="34" charset="0"/>
                <a:cs typeface="BT Curve Headline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8181AB5A-FC54-48E2-8C31-72822EC0928D}"/>
              </a:ext>
            </a:extLst>
          </p:cNvPr>
          <p:cNvSpPr txBox="1"/>
          <p:nvPr userDrawn="1"/>
        </p:nvSpPr>
        <p:spPr>
          <a:xfrm>
            <a:off x="390096" y="6309492"/>
            <a:ext cx="193686" cy="16179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3104">
              <a:spcBef>
                <a:spcPts val="61"/>
              </a:spcBef>
            </a:pPr>
            <a:fld id="{81D60167-4931-47E6-BA6A-407CBD079E47}" type="slidenum">
              <a:rPr sz="1001" spc="-15" dirty="0">
                <a:solidFill>
                  <a:srgbClr val="5B15C1"/>
                </a:solidFill>
                <a:latin typeface="BT Curve Headline" panose="020B0603020203020204" pitchFamily="34" charset="0"/>
                <a:cs typeface="BT Curve Headline" panose="020B0603020203020204" pitchFamily="34" charset="0"/>
              </a:rPr>
              <a:pPr marL="23104">
                <a:spcBef>
                  <a:spcPts val="61"/>
                </a:spcBef>
              </a:pPr>
              <a:t>‹#›</a:t>
            </a:fld>
            <a:endParaRPr sz="1001" dirty="0">
              <a:solidFill>
                <a:srgbClr val="5B15C1"/>
              </a:solidFill>
              <a:latin typeface="BT Curve Headline" panose="020B0603020203020204" pitchFamily="34" charset="0"/>
              <a:cs typeface="BT Curve Headline" panose="020B0603020203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252EC7-C803-8B8D-22A5-248D85DE4C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978" y="5834063"/>
            <a:ext cx="746694" cy="74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0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Title Slide -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5">
            <a:extLst>
              <a:ext uri="{FF2B5EF4-FFF2-40B4-BE49-F238E27FC236}">
                <a16:creationId xmlns:a16="http://schemas.microsoft.com/office/drawing/2014/main" id="{FF872486-6E5F-4A93-BF59-FE96F29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50" y="1956681"/>
            <a:ext cx="10515058" cy="1134862"/>
          </a:xfrm>
          <a:prstGeom prst="rect">
            <a:avLst/>
          </a:prstGeom>
        </p:spPr>
        <p:txBody>
          <a:bodyPr/>
          <a:lstStyle>
            <a:lvl1pPr>
              <a:defRPr kumimoji="0" lang="en-US" sz="5400" b="0" i="0" u="none" strike="noStrike" kern="0" cap="none" spc="-52" normalizeH="0" baseline="0" smtClean="0">
                <a:ln>
                  <a:noFill/>
                </a:ln>
                <a:solidFill>
                  <a:srgbClr val="5B15C1"/>
                </a:solidFill>
                <a:effectLst/>
                <a:uLnTx/>
                <a:uFillTx/>
                <a:latin typeface="BT Curve Headline" panose="020B0603020203020204" pitchFamily="34" charset="0"/>
                <a:ea typeface="+mj-ea"/>
                <a:cs typeface="BT Curve Headline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1D94926-E68F-4D4D-A484-D29154CA4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750" y="3961898"/>
            <a:ext cx="10515058" cy="924155"/>
          </a:xfrm>
          <a:prstGeom prst="rect">
            <a:avLst/>
          </a:prstGeom>
        </p:spPr>
        <p:txBody>
          <a:bodyPr/>
          <a:lstStyle>
            <a:lvl1pPr marL="7701" indent="0">
              <a:buNone/>
              <a:defRPr kumimoji="0" lang="en-GB" sz="2001" b="0" i="0" u="none" strike="noStrike" kern="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T Curve" panose="020B0503020203020204" pitchFamily="34" charset="0"/>
                <a:ea typeface="+mj-ea"/>
                <a:cs typeface="BT Curve" panose="020B0503020203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84951" marR="0" lvl="0" indent="-277250" defTabSz="554500" eaLnBrk="1" fontAlgn="auto" latinLnBrk="0" hangingPunct="1">
              <a:lnSpc>
                <a:spcPct val="100000"/>
              </a:lnSpc>
              <a:spcBef>
                <a:spcPts val="9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41612B9-08F0-4560-8ADE-1F94330BE2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91750" y="6180103"/>
            <a:ext cx="4826311" cy="32265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lang="en-US" sz="2001" b="0" smtClean="0">
                <a:solidFill>
                  <a:srgbClr val="5B15C1"/>
                </a:solidFill>
                <a:latin typeface="BT Curve" panose="020B0503020203020204" pitchFamily="34" charset="0"/>
                <a:cs typeface="BT Curve" panose="020B0503020203020204" pitchFamily="34" charset="0"/>
              </a:defRPr>
            </a:lvl1pPr>
          </a:lstStyle>
          <a:p>
            <a:pPr marL="7701">
              <a:spcBef>
                <a:spcPts val="69"/>
              </a:spcBef>
            </a:pPr>
            <a:fld id="{CF066B5D-0765-4918-B01D-CE1509138FBC}" type="datetime4">
              <a:rPr lang="en-GB" smtClean="0"/>
              <a:pPr marL="7701">
                <a:spcBef>
                  <a:spcPts val="69"/>
                </a:spcBef>
              </a:pPr>
              <a:t>18 April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05DF0A0-A9C6-3E71-97DB-E7CBDFBCDA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023" y="164306"/>
            <a:ext cx="1520520" cy="152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0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- 03">
    <p:bg>
      <p:bgPr>
        <a:blipFill dpi="0" rotWithShape="1">
          <a:blip r:embed="rId2"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8149E3-214B-9BFB-D337-D6253A29FD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4767" y="2105026"/>
            <a:ext cx="2642468" cy="264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7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61726-295B-EC4E-DDFC-131147D4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EECBA-D791-60C7-9DA7-E6BDCBE0C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92109-2A8F-AA83-C6AB-495DD03DA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B3B6-52AB-F5AD-7ABF-5E07FC450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B84A8-0E25-B10B-F680-6A7E82E8F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4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acha.2005.02.003" TargetMode="External"/><Relationship Id="rId3" Type="http://schemas.openxmlformats.org/officeDocument/2006/relationships/hyperlink" Target="https://arxiv.org/abs/1706.03762" TargetMode="External"/><Relationship Id="rId7" Type="http://schemas.openxmlformats.org/officeDocument/2006/relationships/hyperlink" Target="https://doi.org/10.1007/978-3-319-10593-2_13" TargetMode="External"/><Relationship Id="rId2" Type="http://schemas.openxmlformats.org/officeDocument/2006/relationships/hyperlink" Target="http://cs231n.stanford.edu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i.org/10.1109/CVPR.2009.5206834" TargetMode="External"/><Relationship Id="rId5" Type="http://schemas.openxmlformats.org/officeDocument/2006/relationships/hyperlink" Target="https://doi.org/10.1109/CVPR.2017.163" TargetMode="External"/><Relationship Id="rId10" Type="http://schemas.openxmlformats.org/officeDocument/2006/relationships/hyperlink" Target="https://doi.org/10.1145/258734.258884" TargetMode="External"/><Relationship Id="rId4" Type="http://schemas.openxmlformats.org/officeDocument/2006/relationships/hyperlink" Target="https://arxiv.org/abs/2010.11929" TargetMode="External"/><Relationship Id="rId9" Type="http://schemas.openxmlformats.org/officeDocument/2006/relationships/hyperlink" Target="https://doi.org/10.1109/ICCV.2015.333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2884-F9DB-D09B-01E4-4B82E4B0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49" y="1596586"/>
            <a:ext cx="11156085" cy="2031325"/>
          </a:xfrm>
        </p:spPr>
        <p:txBody>
          <a:bodyPr/>
          <a:lstStyle/>
          <a:p>
            <a:r>
              <a:rPr lang="en-US" sz="3200" b="1" dirty="0"/>
              <a:t>AI Image Restoration for 5G Edge Systems</a:t>
            </a:r>
            <a:br>
              <a:rPr lang="en-US" sz="3200" dirty="0"/>
            </a:br>
            <a:br>
              <a:rPr lang="en-GB" sz="1800" dirty="0"/>
            </a:br>
            <a:r>
              <a:rPr lang="en-GB" sz="1800" b="1" i="1" dirty="0"/>
              <a:t>Lightweight Hybrid CNN–Transformer for Real-Time Reconstruction</a:t>
            </a:r>
            <a:br>
              <a:rPr lang="en-GB" sz="1800" i="1" dirty="0"/>
            </a:br>
            <a:br>
              <a:rPr lang="en-GB" sz="1800" i="1" dirty="0"/>
            </a:br>
            <a:r>
              <a:rPr lang="en-US" sz="1800" dirty="0">
                <a:solidFill>
                  <a:srgbClr val="00E5FF"/>
                </a:solidFill>
              </a:rPr>
              <a:t>Efficient • Real-Time • Edge-Ready</a:t>
            </a:r>
            <a:br>
              <a:rPr lang="en-GB" sz="1800" dirty="0"/>
            </a:br>
            <a:br>
              <a:rPr lang="en-GB" sz="1800" i="1" dirty="0"/>
            </a:br>
            <a:endParaRPr lang="en-IN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CC719-FC3B-5285-F7F4-C1FB88CC2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572" y="5261414"/>
            <a:ext cx="6415450" cy="1363450"/>
          </a:xfrm>
        </p:spPr>
        <p:txBody>
          <a:bodyPr/>
          <a:lstStyle/>
          <a:p>
            <a:r>
              <a:rPr lang="en-US" sz="1600" b="1" dirty="0"/>
              <a:t>Inderjit Singh</a:t>
            </a:r>
          </a:p>
          <a:p>
            <a:r>
              <a:rPr lang="en-US" sz="1600" dirty="0" err="1"/>
              <a:t>M.Tech</a:t>
            </a:r>
            <a:r>
              <a:rPr lang="en-US" sz="1600" dirty="0"/>
              <a:t> (AI), IISc Bangalore</a:t>
            </a:r>
          </a:p>
          <a:p>
            <a:r>
              <a:rPr lang="en-US" sz="1600" dirty="0"/>
              <a:t>Mentor: Prof. Shashi Jain (IISc)</a:t>
            </a:r>
          </a:p>
          <a:p>
            <a:r>
              <a:rPr lang="en-US" sz="1600" dirty="0"/>
              <a:t>BT Group: Micheal Free, Damien </a:t>
            </a:r>
            <a:r>
              <a:rPr lang="en-US" sz="1600" dirty="0" err="1"/>
              <a:t>Bayart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994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B552A-97FA-11B0-0ABD-BB6CD888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5531A4-3C24-60BD-F816-AA2347257F55}"/>
              </a:ext>
            </a:extLst>
          </p:cNvPr>
          <p:cNvSpPr txBox="1"/>
          <p:nvPr/>
        </p:nvSpPr>
        <p:spPr>
          <a:xfrm>
            <a:off x="647948" y="438855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The Problem in the Real World</a:t>
            </a:r>
            <a:endParaRPr lang="en-US" sz="24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218B77-95AE-B147-8291-05375B22F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79" y="1567815"/>
            <a:ext cx="4695576" cy="37223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E0C6D4-8A4E-3AB0-191D-9DCBDA8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124" y="2040825"/>
            <a:ext cx="3920038" cy="301043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E2F63F5-7F74-19F8-D32C-6C294DAD517A}"/>
              </a:ext>
            </a:extLst>
          </p:cNvPr>
          <p:cNvSpPr/>
          <p:nvPr/>
        </p:nvSpPr>
        <p:spPr>
          <a:xfrm>
            <a:off x="5603443" y="3335731"/>
            <a:ext cx="1594714" cy="91440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8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3EBF-69F7-5A7D-7823-983D125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4C69B-7E1E-49FE-DA9B-9246EC79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43" y="640448"/>
            <a:ext cx="10784114" cy="2264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FDBF0D-CC2E-E964-B411-9538F7579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8" y="4939240"/>
            <a:ext cx="10559144" cy="1157697"/>
          </a:xfrm>
          <a:prstGeom prst="rect">
            <a:avLst/>
          </a:prstGeom>
        </p:spPr>
      </p:pic>
      <p:sp>
        <p:nvSpPr>
          <p:cNvPr id="9" name="AutoShape 2" descr="Research gap infographic banner">
            <a:extLst>
              <a:ext uri="{FF2B5EF4-FFF2-40B4-BE49-F238E27FC236}">
                <a16:creationId xmlns:a16="http://schemas.microsoft.com/office/drawing/2014/main" id="{4AC7B410-B3B3-FB0E-589A-618257C04A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5838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Research gap infographic banner">
            <a:extLst>
              <a:ext uri="{FF2B5EF4-FFF2-40B4-BE49-F238E27FC236}">
                <a16:creationId xmlns:a16="http://schemas.microsoft.com/office/drawing/2014/main" id="{FA7285A5-A437-D851-3D42-E27C4D15A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1" y="3736238"/>
            <a:ext cx="354543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3B7BB7-7FE7-CB43-A4EE-24485357E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43" y="3028377"/>
            <a:ext cx="10784115" cy="178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5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C711-A82F-4BE2-3517-CA3FC6F7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183853-28DB-350A-C5F3-528114D7B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8" y="1503601"/>
            <a:ext cx="10305143" cy="2483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0D7DE0-BC4B-133E-E4F4-84D3BA12ED2C}"/>
              </a:ext>
            </a:extLst>
          </p:cNvPr>
          <p:cNvSpPr txBox="1"/>
          <p:nvPr/>
        </p:nvSpPr>
        <p:spPr>
          <a:xfrm>
            <a:off x="1880006" y="724205"/>
            <a:ext cx="8134502" cy="373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GOAL: Design an efficient image restoration model for real-world applications.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BB872-811E-B0C3-384C-9A4A58DCF2D6}"/>
              </a:ext>
            </a:extLst>
          </p:cNvPr>
          <p:cNvSpPr txBox="1"/>
          <p:nvPr/>
        </p:nvSpPr>
        <p:spPr>
          <a:xfrm>
            <a:off x="811987" y="278449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Objectives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A954A-D564-3D54-A532-E74FC6007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79" y="4393820"/>
            <a:ext cx="11002911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98BF12-E120-3EED-A8C0-2AE8A554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066" y="1458863"/>
            <a:ext cx="7897327" cy="2467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F621A-FEE9-001C-208A-7736304E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05" y="4311781"/>
            <a:ext cx="7842788" cy="1028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6028E9-9703-F00A-35E6-CDA1E3E7817C}"/>
              </a:ext>
            </a:extLst>
          </p:cNvPr>
          <p:cNvSpPr txBox="1"/>
          <p:nvPr/>
        </p:nvSpPr>
        <p:spPr>
          <a:xfrm>
            <a:off x="567481" y="210720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Literature Review</a:t>
            </a:r>
            <a:endParaRPr lang="en-US" sz="20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67461-84E1-D4D5-B006-9409ED0E35BB}"/>
              </a:ext>
            </a:extLst>
          </p:cNvPr>
          <p:cNvSpPr txBox="1"/>
          <p:nvPr/>
        </p:nvSpPr>
        <p:spPr>
          <a:xfrm>
            <a:off x="2051247" y="842431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kern="0" dirty="0">
                <a:solidFill>
                  <a:srgbClr val="00B050"/>
                </a:solidFill>
                <a:latin typeface="BT Curve Headline" panose="020B0603020203020204" pitchFamily="34" charset="0"/>
                <a:ea typeface="+mj-ea"/>
              </a:rPr>
              <a:t>Existing Methods Comparison</a:t>
            </a:r>
            <a:endParaRPr lang="en-US" sz="2000" kern="0" dirty="0">
              <a:solidFill>
                <a:srgbClr val="00B050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856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41F6-5BB7-3DB6-B128-3A6485F8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49C1C1-29B2-74E7-6E99-96543B3B569A}"/>
              </a:ext>
            </a:extLst>
          </p:cNvPr>
          <p:cNvSpPr txBox="1"/>
          <p:nvPr/>
        </p:nvSpPr>
        <p:spPr>
          <a:xfrm>
            <a:off x="567481" y="210720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Literature Review</a:t>
            </a:r>
            <a:endParaRPr lang="en-US" sz="20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B1A15-200C-2A1C-64F4-4345C1143626}"/>
              </a:ext>
            </a:extLst>
          </p:cNvPr>
          <p:cNvSpPr txBox="1"/>
          <p:nvPr/>
        </p:nvSpPr>
        <p:spPr>
          <a:xfrm>
            <a:off x="1751994" y="1010680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kern="0" dirty="0">
                <a:solidFill>
                  <a:srgbClr val="00B050"/>
                </a:solidFill>
                <a:latin typeface="BT Curve Headline" panose="020B0603020203020204" pitchFamily="34" charset="0"/>
                <a:ea typeface="+mj-ea"/>
              </a:rPr>
              <a:t>Key Deep Learning Models</a:t>
            </a:r>
            <a:endParaRPr lang="en-US" sz="2000" kern="0" dirty="0">
              <a:solidFill>
                <a:srgbClr val="00B050"/>
              </a:solidFill>
              <a:latin typeface="BT Curve Headline" panose="020B0603020203020204" pitchFamily="34" charset="0"/>
              <a:ea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EE5EC-F0DA-B61F-7040-CEEBFC376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4" y="1642813"/>
            <a:ext cx="868801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BB7136-5423-95B4-3EFA-23CBCE835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01" y="914830"/>
            <a:ext cx="10731398" cy="38546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245FB5-5A2E-6908-B27E-BCEBC4786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4958587"/>
            <a:ext cx="10190074" cy="1286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48AC21-C0AA-A1C0-37F3-0D8B25423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212" y="380390"/>
            <a:ext cx="2099487" cy="3453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0381E7-F431-885A-E291-0947A8EEEB06}"/>
              </a:ext>
            </a:extLst>
          </p:cNvPr>
          <p:cNvSpPr txBox="1"/>
          <p:nvPr/>
        </p:nvSpPr>
        <p:spPr>
          <a:xfrm>
            <a:off x="730301" y="287664"/>
            <a:ext cx="6100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1" dirty="0"/>
              <a:t>Hybrid CNN + Transformer for Image Restoration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21C35-4D33-D425-29C8-7C33F2CDA017}"/>
              </a:ext>
            </a:extLst>
          </p:cNvPr>
          <p:cNvSpPr txBox="1"/>
          <p:nvPr/>
        </p:nvSpPr>
        <p:spPr>
          <a:xfrm>
            <a:off x="479699" y="152962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Proposed</a:t>
            </a:r>
            <a:r>
              <a:rPr lang="en-US" sz="2400" b="1" dirty="0"/>
              <a:t> </a:t>
            </a:r>
            <a:r>
              <a:rPr lang="en-US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31250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9F017-A95E-5E36-DBB8-1B416E17F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88" y="0"/>
            <a:ext cx="10328223" cy="673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7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1BBFE-E849-AB50-4C07-004160C3F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62" y="0"/>
            <a:ext cx="10301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2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058B40-BE98-375D-0C97-B803A848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42" y="0"/>
            <a:ext cx="10235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7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D261A9-C3A1-2DC0-0CD2-75EDD478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82" y="0"/>
            <a:ext cx="9831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0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B8D5D-B6AE-C1B2-02F2-AD5A0A6B0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26" y="0"/>
            <a:ext cx="10316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3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9913E4-41E7-0A83-1BD1-1C743AF43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35" y="0"/>
            <a:ext cx="10279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9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0BF7F8-7DDB-8065-81DC-52E48C61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58" y="0"/>
            <a:ext cx="10316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6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820C-D7EF-A5DE-62F1-4B014D51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E9266-6CF6-3C25-FE78-C3D46FB5756C}"/>
              </a:ext>
            </a:extLst>
          </p:cNvPr>
          <p:cNvSpPr txBox="1"/>
          <p:nvPr/>
        </p:nvSpPr>
        <p:spPr>
          <a:xfrm>
            <a:off x="845457" y="729734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Why It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AD9E2-686D-641F-FE36-C084082DB10C}"/>
              </a:ext>
            </a:extLst>
          </p:cNvPr>
          <p:cNvSpPr txBox="1"/>
          <p:nvPr/>
        </p:nvSpPr>
        <p:spPr>
          <a:xfrm>
            <a:off x="845457" y="1415261"/>
            <a:ext cx="1094873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Main idea:</a:t>
            </a:r>
            <a:br>
              <a:rPr lang="en-GB" dirty="0"/>
            </a:br>
            <a:r>
              <a:rPr lang="en-GB" dirty="0"/>
              <a:t>        Poor image or video quality isn’t just inconvenient — it affects how we see, decide, and trust.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Key points: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Surveillance:</a:t>
            </a:r>
            <a:r>
              <a:rPr lang="en-GB" dirty="0"/>
              <a:t> Clear visuals mean accurate identification and faster response.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AR/VR:</a:t>
            </a:r>
            <a:r>
              <a:rPr lang="en-GB" dirty="0"/>
              <a:t> Enhances immersion and realism for training, gaming, or design.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Remote Diagnostics:</a:t>
            </a:r>
            <a:r>
              <a:rPr lang="en-GB" dirty="0"/>
              <a:t> Doctors, engineers, or technicians rely on clarity to make correct calls.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Everyday impact:</a:t>
            </a:r>
            <a:r>
              <a:rPr lang="en-GB" dirty="0"/>
              <a:t> From video calls to smart cameras, better quality = better communication.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Emotional connection:</a:t>
            </a:r>
          </a:p>
          <a:p>
            <a:pPr lvl="1"/>
            <a:br>
              <a:rPr lang="en-GB" dirty="0"/>
            </a:br>
            <a:r>
              <a:rPr lang="en-GB" dirty="0">
                <a:solidFill>
                  <a:schemeClr val="accent6"/>
                </a:solidFill>
              </a:rPr>
              <a:t>                                                   </a:t>
            </a:r>
            <a:r>
              <a:rPr lang="en-GB" b="1" dirty="0">
                <a:solidFill>
                  <a:schemeClr val="accent6"/>
                </a:solidFill>
              </a:rPr>
              <a:t>Clarity → Trust → Safety → Better Experience</a:t>
            </a:r>
            <a:endParaRPr lang="en-GB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28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4EDF-8A4E-A64A-2DE6-59A1546B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9A02C2-B07B-09B4-28F8-D932B1E6BE37}"/>
              </a:ext>
            </a:extLst>
          </p:cNvPr>
          <p:cNvSpPr txBox="1"/>
          <p:nvPr/>
        </p:nvSpPr>
        <p:spPr>
          <a:xfrm>
            <a:off x="1471863" y="894832"/>
            <a:ext cx="1072013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Bandwidth Limits</a:t>
            </a:r>
          </a:p>
          <a:p>
            <a:r>
              <a:rPr lang="en-GB" dirty="0"/>
              <a:t>Smart cameras and IoT devices compress data to save bandwidth.</a:t>
            </a:r>
            <a:br>
              <a:rPr lang="en-GB" dirty="0"/>
            </a:br>
            <a:r>
              <a:rPr lang="en-GB" dirty="0"/>
              <a:t>AI-based restoration recovers clarity from these lightweight transmissions.</a:t>
            </a:r>
          </a:p>
          <a:p>
            <a:endParaRPr lang="en-GB" dirty="0"/>
          </a:p>
          <a:p>
            <a:r>
              <a:rPr lang="en-GB" b="1" dirty="0"/>
              <a:t>2. Low-Latency Needs</a:t>
            </a:r>
          </a:p>
          <a:p>
            <a:r>
              <a:rPr lang="en-GB" dirty="0"/>
              <a:t>Real-time tasks such as surveillance and diagnostics require instant visuals.</a:t>
            </a:r>
            <a:br>
              <a:rPr lang="en-GB" dirty="0"/>
            </a:br>
            <a:r>
              <a:rPr lang="en-GB" dirty="0"/>
              <a:t>Edge restoration ensures fast and accurate image processing.</a:t>
            </a:r>
          </a:p>
          <a:p>
            <a:endParaRPr lang="en-GB" dirty="0"/>
          </a:p>
          <a:p>
            <a:r>
              <a:rPr lang="en-GB" b="1" dirty="0"/>
              <a:t>3. Network Optimization</a:t>
            </a:r>
          </a:p>
          <a:p>
            <a:r>
              <a:rPr lang="en-GB" dirty="0"/>
              <a:t>Devices can send smaller, degraded images instead of high-resolution ones.</a:t>
            </a:r>
            <a:br>
              <a:rPr lang="en-GB" dirty="0"/>
            </a:br>
            <a:r>
              <a:rPr lang="en-GB" dirty="0"/>
              <a:t>AI restores visual quality at the receiver, reducing network strain.</a:t>
            </a:r>
          </a:p>
          <a:p>
            <a:endParaRPr lang="en-GB" dirty="0"/>
          </a:p>
          <a:p>
            <a:r>
              <a:rPr lang="en-GB" b="1" dirty="0"/>
              <a:t>4. Visual Experience</a:t>
            </a:r>
          </a:p>
          <a:p>
            <a:r>
              <a:rPr lang="en-GB" dirty="0"/>
              <a:t>AR/VR, streaming, and video calls lose quality due to compression.</a:t>
            </a:r>
            <a:br>
              <a:rPr lang="en-GB" dirty="0"/>
            </a:br>
            <a:r>
              <a:rPr lang="en-GB" dirty="0"/>
              <a:t>Restoration improves realism and user experience without extra bandwidth.</a:t>
            </a:r>
          </a:p>
          <a:p>
            <a:endParaRPr lang="en-GB" dirty="0"/>
          </a:p>
          <a:p>
            <a:r>
              <a:rPr lang="en-GB" b="1" dirty="0"/>
              <a:t>5. Remote Operations</a:t>
            </a:r>
          </a:p>
          <a:p>
            <a:r>
              <a:rPr lang="en-GB" dirty="0"/>
              <a:t>Engineers depend on transmitted visuals for diagnostics and maintenance.</a:t>
            </a:r>
            <a:br>
              <a:rPr lang="en-GB" dirty="0"/>
            </a:br>
            <a:r>
              <a:rPr lang="en-GB" dirty="0"/>
              <a:t>Restoration enhances clarity, reducing errors and on-site visits.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3FC24-4ABE-9543-E96D-082C1AB8B310}"/>
              </a:ext>
            </a:extLst>
          </p:cNvPr>
          <p:cNvSpPr txBox="1"/>
          <p:nvPr/>
        </p:nvSpPr>
        <p:spPr>
          <a:xfrm>
            <a:off x="700334" y="369708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Context: Challenges in the 5G–Edge World</a:t>
            </a:r>
          </a:p>
        </p:txBody>
      </p:sp>
    </p:spTree>
    <p:extLst>
      <p:ext uri="{BB962C8B-B14F-4D97-AF65-F5344CB8AC3E}">
        <p14:creationId xmlns:p14="http://schemas.microsoft.com/office/powerpoint/2010/main" val="153453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1278E-18FF-D158-85B8-75A7557B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3D6778-D89C-6FB5-3D7F-F2A14E32E683}"/>
              </a:ext>
            </a:extLst>
          </p:cNvPr>
          <p:cNvGraphicFramePr>
            <a:graphicFrameLocks noGrp="1"/>
          </p:cNvGraphicFramePr>
          <p:nvPr/>
        </p:nvGraphicFramePr>
        <p:xfrm>
          <a:off x="1046602" y="1167788"/>
          <a:ext cx="10102468" cy="4693634"/>
        </p:xfrm>
        <a:graphic>
          <a:graphicData uri="http://schemas.openxmlformats.org/drawingml/2006/table">
            <a:tbl>
              <a:tblPr/>
              <a:tblGrid>
                <a:gridCol w="3338111">
                  <a:extLst>
                    <a:ext uri="{9D8B030D-6E8A-4147-A177-3AD203B41FA5}">
                      <a16:colId xmlns:a16="http://schemas.microsoft.com/office/drawing/2014/main" val="2218059491"/>
                    </a:ext>
                  </a:extLst>
                </a:gridCol>
                <a:gridCol w="6764357">
                  <a:extLst>
                    <a:ext uri="{9D8B030D-6E8A-4147-A177-3AD203B41FA5}">
                      <a16:colId xmlns:a16="http://schemas.microsoft.com/office/drawing/2014/main" val="3660322320"/>
                    </a:ext>
                  </a:extLst>
                </a:gridCol>
              </a:tblGrid>
              <a:tr h="32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Aspect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Details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09447"/>
                  </a:ext>
                </a:extLst>
              </a:tr>
              <a:tr h="11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Business</a:t>
                      </a:r>
                      <a:r>
                        <a:rPr lang="en-US" sz="1400" b="1" dirty="0"/>
                        <a:t>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Problem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IoT devices transmit images/videos over 5G that suffer from </a:t>
                      </a:r>
                      <a:r>
                        <a:rPr lang="en-US" sz="1400" b="1" dirty="0"/>
                        <a:t>compression, noise, and packet loss</a:t>
                      </a:r>
                      <a:r>
                        <a:rPr lang="en-US" sz="1400" dirty="0"/>
                        <a:t>, leading to degraded quality. This reduces </a:t>
                      </a:r>
                      <a:r>
                        <a:rPr lang="en-US" sz="1400" b="1" dirty="0"/>
                        <a:t>AI analytics accuracy</a:t>
                      </a:r>
                      <a:r>
                        <a:rPr lang="en-US" sz="1400" dirty="0"/>
                        <a:t>, impacts </a:t>
                      </a:r>
                      <a:r>
                        <a:rPr lang="en-US" sz="1400" b="1" dirty="0"/>
                        <a:t>critical decision-making</a:t>
                      </a:r>
                      <a:r>
                        <a:rPr lang="en-US" sz="1400" dirty="0"/>
                        <a:t> (healthcare, surveillance, autonomous vehicles), and degrades </a:t>
                      </a:r>
                      <a:r>
                        <a:rPr lang="en-US" sz="1400" b="1" dirty="0"/>
                        <a:t>end-user experience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623832"/>
                  </a:ext>
                </a:extLst>
              </a:tr>
              <a:tr h="997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Objectives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dirty="0"/>
                        <a:t>• Deliver high-quality, high-resolution images to end users • Ensure reliable AI analytics with clean input data • Minimize latency and processing cost at edge servers • Improve trust, safety, and operational efficiency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550564"/>
                  </a:ext>
                </a:extLst>
              </a:tr>
              <a:tr h="997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Key</a:t>
                      </a:r>
                      <a:r>
                        <a:rPr lang="en-US" sz="1400" b="1" dirty="0"/>
                        <a:t>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Challenges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dirty="0"/>
                        <a:t>• Network constraints: bandwidth limits, unstable 5G connections • Real-time requirements for monitoring and control • Scalability: millions of IoT devices streaming continuously • Balancing cost vs. image quality in edge processing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448287"/>
                  </a:ext>
                </a:extLst>
              </a:tr>
              <a:tr h="11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Opportunities</a:t>
                      </a:r>
                      <a:r>
                        <a:rPr lang="en-US" sz="1400" b="1" dirty="0"/>
                        <a:t> /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Business</a:t>
                      </a:r>
                      <a:r>
                        <a:rPr lang="en-US" sz="1400" b="1" dirty="0"/>
                        <a:t>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• </a:t>
                      </a:r>
                      <a:r>
                        <a:rPr lang="en-US" sz="1400" b="1" dirty="0"/>
                        <a:t>Smart Cities</a:t>
                      </a:r>
                      <a:r>
                        <a:rPr lang="en-US" sz="1400" dirty="0"/>
                        <a:t> → Safer surveillance with clearer CCTV feeds • </a:t>
                      </a:r>
                      <a:r>
                        <a:rPr lang="en-US" sz="1400" b="1" dirty="0"/>
                        <a:t>Healthcare</a:t>
                      </a:r>
                      <a:r>
                        <a:rPr lang="en-US" sz="1400" dirty="0"/>
                        <a:t> → More accurate telemedicine &amp; remote diagnosis • </a:t>
                      </a:r>
                      <a:r>
                        <a:rPr lang="en-US" sz="1400" b="1" dirty="0"/>
                        <a:t>Autonomous Vehicles</a:t>
                      </a:r>
                      <a:r>
                        <a:rPr lang="en-US" sz="1400" dirty="0"/>
                        <a:t> → Better road safety &amp; navigation decisions • </a:t>
                      </a:r>
                      <a:r>
                        <a:rPr lang="en-US" sz="1400" b="1" dirty="0"/>
                        <a:t>Industrial IoT</a:t>
                      </a:r>
                      <a:r>
                        <a:rPr lang="en-US" sz="1400" dirty="0"/>
                        <a:t> → Enhanced monitoring reduces downtime &amp; failures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752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1AFAA50-058C-4D3D-D808-BF993282D3BE}"/>
              </a:ext>
            </a:extLst>
          </p:cNvPr>
          <p:cNvSpPr txBox="1"/>
          <p:nvPr/>
        </p:nvSpPr>
        <p:spPr>
          <a:xfrm>
            <a:off x="505070" y="240175"/>
            <a:ext cx="9943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Business Case: Image Restoration + Super-Resolution in IoT over 5G</a:t>
            </a:r>
            <a:endParaRPr lang="en-US" sz="28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3404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C5A4-E505-3755-3FCE-9E63D2F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864914-A71C-09BD-43F4-AECC46D82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148" y="1399840"/>
            <a:ext cx="6916115" cy="376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37E0D8-B8B3-E5B9-684A-4C4823D15BC8}"/>
              </a:ext>
            </a:extLst>
          </p:cNvPr>
          <p:cNvSpPr txBox="1"/>
          <p:nvPr/>
        </p:nvSpPr>
        <p:spPr>
          <a:xfrm>
            <a:off x="518745" y="451896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kern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defRPr>
            </a:lvl1pPr>
          </a:lstStyle>
          <a:p>
            <a:r>
              <a:rPr lang="en-GB" sz="2400" dirty="0"/>
              <a:t>Use Cases &amp; Visual Data Roles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041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uter hardware and electronic devices">
            <a:extLst>
              <a:ext uri="{FF2B5EF4-FFF2-40B4-BE49-F238E27FC236}">
                <a16:creationId xmlns:a16="http://schemas.microsoft.com/office/drawing/2014/main" id="{0E8C76B6-0614-9BCB-C3BF-DDDC0C7A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159" y="3801613"/>
            <a:ext cx="1533379" cy="1019908"/>
          </a:xfrm>
          <a:prstGeom prst="rect">
            <a:avLst/>
          </a:prstGeom>
        </p:spPr>
      </p:pic>
      <p:pic>
        <p:nvPicPr>
          <p:cNvPr id="8" name="Picture 7" descr="A hand holding a digital globe">
            <a:extLst>
              <a:ext uri="{FF2B5EF4-FFF2-40B4-BE49-F238E27FC236}">
                <a16:creationId xmlns:a16="http://schemas.microsoft.com/office/drawing/2014/main" id="{970F55CE-01FC-B544-FC09-ECE17C700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060" y="1189280"/>
            <a:ext cx="1695157" cy="1019908"/>
          </a:xfrm>
          <a:prstGeom prst="rect">
            <a:avLst/>
          </a:prstGeom>
        </p:spPr>
      </p:pic>
      <p:pic>
        <p:nvPicPr>
          <p:cNvPr id="10" name="Picture 9" descr="A cloud computing system with a blue background">
            <a:extLst>
              <a:ext uri="{FF2B5EF4-FFF2-40B4-BE49-F238E27FC236}">
                <a16:creationId xmlns:a16="http://schemas.microsoft.com/office/drawing/2014/main" id="{21688B17-4F22-E5DC-AABE-B2FADAE6D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099" y="3801613"/>
            <a:ext cx="1533380" cy="1019908"/>
          </a:xfrm>
          <a:prstGeom prst="rect">
            <a:avLst/>
          </a:prstGeom>
        </p:spPr>
      </p:pic>
      <p:pic>
        <p:nvPicPr>
          <p:cNvPr id="2054" name="Picture 6" descr="What is Internet Of Things(IoT) ? How IoT Works? | Circuit Blue-The Data  Recovery Experts Blog %">
            <a:extLst>
              <a:ext uri="{FF2B5EF4-FFF2-40B4-BE49-F238E27FC236}">
                <a16:creationId xmlns:a16="http://schemas.microsoft.com/office/drawing/2014/main" id="{7A8F2757-AEF9-0C1D-54B4-9256593F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4" y="1128156"/>
            <a:ext cx="1757876" cy="101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ree Futuristic AI interface Photo - Technology, Future, Artificial |  Download at StockCake">
            <a:extLst>
              <a:ext uri="{FF2B5EF4-FFF2-40B4-BE49-F238E27FC236}">
                <a16:creationId xmlns:a16="http://schemas.microsoft.com/office/drawing/2014/main" id="{8E805AE6-D93D-417A-A561-AEA0AA13F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603" y="1128155"/>
            <a:ext cx="1695157" cy="101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106061-71DF-8286-A85B-32526ACA3375}"/>
              </a:ext>
            </a:extLst>
          </p:cNvPr>
          <p:cNvSpPr txBox="1"/>
          <p:nvPr/>
        </p:nvSpPr>
        <p:spPr>
          <a:xfrm>
            <a:off x="6600110" y="5697697"/>
            <a:ext cx="609971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050" b="1" dirty="0"/>
              <a:t>             Example Workflow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IoT Camera</a:t>
            </a:r>
            <a:r>
              <a:rPr lang="en-US" sz="1050" dirty="0"/>
              <a:t> captures a noisy image.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Edge AI</a:t>
            </a:r>
            <a:r>
              <a:rPr lang="en-US" sz="1050" dirty="0"/>
              <a:t> performs quick </a:t>
            </a:r>
            <a:r>
              <a:rPr lang="en-US" sz="1050" i="1" dirty="0"/>
              <a:t>denoising + enhancement</a:t>
            </a:r>
            <a:r>
              <a:rPr lang="en-US" sz="1050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sz="1050" dirty="0"/>
              <a:t>Sends partially restored image over </a:t>
            </a:r>
            <a:r>
              <a:rPr lang="en-US" sz="1050" b="1" dirty="0"/>
              <a:t>5G</a:t>
            </a:r>
            <a:r>
              <a:rPr lang="en-US" sz="1050" dirty="0"/>
              <a:t> to the </a:t>
            </a:r>
            <a:r>
              <a:rPr lang="en-US" sz="1050" b="1" dirty="0"/>
              <a:t>cloud AI</a:t>
            </a:r>
            <a:r>
              <a:rPr lang="en-US" sz="1050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Cloud AI</a:t>
            </a:r>
            <a:r>
              <a:rPr lang="en-US" sz="1050" dirty="0"/>
              <a:t> performs advanced </a:t>
            </a:r>
            <a:r>
              <a:rPr lang="en-US" sz="1050" i="1" dirty="0"/>
              <a:t>super-resolution + final restoration</a:t>
            </a:r>
            <a:r>
              <a:rPr lang="en-US" sz="1050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User Application</a:t>
            </a:r>
            <a:r>
              <a:rPr lang="en-US" sz="1050" dirty="0"/>
              <a:t> receives a high-quality, restored image.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35B07EE-6803-B851-3FE0-961A32AFF6C8}"/>
              </a:ext>
            </a:extLst>
          </p:cNvPr>
          <p:cNvCxnSpPr>
            <a:cxnSpLocks/>
            <a:stCxn id="2054" idx="2"/>
            <a:endCxn id="6" idx="1"/>
          </p:cNvCxnSpPr>
          <p:nvPr/>
        </p:nvCxnSpPr>
        <p:spPr>
          <a:xfrm rot="16200000" flipH="1">
            <a:off x="950254" y="2628661"/>
            <a:ext cx="2163503" cy="12023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BDAB3B0-D40E-1069-F766-27D7C54C2E3D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4166538" y="2209188"/>
            <a:ext cx="1408101" cy="21023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6B3281F-F2F5-5B57-49ED-D9B714079AB6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6422217" y="1699234"/>
            <a:ext cx="1868572" cy="21023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CFACBE4-52F9-C622-A335-493F36F3C2A0}"/>
              </a:ext>
            </a:extLst>
          </p:cNvPr>
          <p:cNvCxnSpPr>
            <a:stCxn id="10" idx="3"/>
            <a:endCxn id="2056" idx="2"/>
          </p:cNvCxnSpPr>
          <p:nvPr/>
        </p:nvCxnSpPr>
        <p:spPr>
          <a:xfrm flipV="1">
            <a:off x="9057479" y="2148064"/>
            <a:ext cx="1609703" cy="21635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8543C81-5CCC-7E29-A03E-D6A19623C4B8}"/>
              </a:ext>
            </a:extLst>
          </p:cNvPr>
          <p:cNvSpPr txBox="1"/>
          <p:nvPr/>
        </p:nvSpPr>
        <p:spPr>
          <a:xfrm>
            <a:off x="936345" y="697700"/>
            <a:ext cx="136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IOT Devices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7B30B-FA73-E1FA-827B-5F31AFAE1852}"/>
              </a:ext>
            </a:extLst>
          </p:cNvPr>
          <p:cNvSpPr txBox="1"/>
          <p:nvPr/>
        </p:nvSpPr>
        <p:spPr>
          <a:xfrm>
            <a:off x="3247630" y="4905640"/>
            <a:ext cx="136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Edge AI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E079A-A3EC-DC93-6F42-554C3A4B5935}"/>
              </a:ext>
            </a:extLst>
          </p:cNvPr>
          <p:cNvSpPr txBox="1"/>
          <p:nvPr/>
        </p:nvSpPr>
        <p:spPr>
          <a:xfrm>
            <a:off x="9716892" y="697700"/>
            <a:ext cx="190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User/Application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865465-A979-232C-C69C-1D285D7F98AB}"/>
              </a:ext>
            </a:extLst>
          </p:cNvPr>
          <p:cNvSpPr txBox="1"/>
          <p:nvPr/>
        </p:nvSpPr>
        <p:spPr>
          <a:xfrm>
            <a:off x="7978124" y="4924726"/>
            <a:ext cx="153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Cloud AI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9810A-0F70-4BE0-D927-D22AC1D23831}"/>
              </a:ext>
            </a:extLst>
          </p:cNvPr>
          <p:cNvSpPr txBox="1"/>
          <p:nvPr/>
        </p:nvSpPr>
        <p:spPr>
          <a:xfrm>
            <a:off x="5135307" y="707148"/>
            <a:ext cx="153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5G/Network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1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6EFA-D884-D67C-7AD8-F351C13D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516BBF3-9166-F36F-10B5-A89910EBA367}"/>
              </a:ext>
            </a:extLst>
          </p:cNvPr>
          <p:cNvSpPr txBox="1"/>
          <p:nvPr/>
        </p:nvSpPr>
        <p:spPr>
          <a:xfrm>
            <a:off x="1039251" y="332322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Mathematical</a:t>
            </a:r>
            <a:r>
              <a:rPr lang="en-US" dirty="0"/>
              <a:t> 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Problem</a:t>
            </a:r>
            <a:r>
              <a:rPr lang="en-US" dirty="0"/>
              <a:t> 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6F910-BBC8-F2FC-D310-5001A0DDFBE3}"/>
                  </a:ext>
                </a:extLst>
              </p:cNvPr>
              <p:cNvSpPr txBox="1"/>
              <p:nvPr/>
            </p:nvSpPr>
            <p:spPr>
              <a:xfrm>
                <a:off x="2171700" y="1051426"/>
                <a:ext cx="7767125" cy="4755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Degradation model: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𝐻𝑥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dirty="0"/>
                  <a:t>: degraded image</a:t>
                </a:r>
                <a:br>
                  <a:rPr lang="en-US" sz="1400" dirty="0"/>
                </a:b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400" dirty="0"/>
                  <a:t>: degradation operator (blur, </a:t>
                </a:r>
                <a:r>
                  <a:rPr lang="en-US" sz="1400" dirty="0" err="1"/>
                  <a:t>downsampling</a:t>
                </a:r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400" dirty="0"/>
                  <a:t>: clean/original image</a:t>
                </a:r>
                <a:br>
                  <a:rPr lang="en-US" sz="1400" dirty="0"/>
                </a:b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: additive noise</a:t>
                </a:r>
              </a:p>
              <a:p>
                <a:pPr>
                  <a:buNone/>
                </a:pPr>
                <a:br>
                  <a:rPr lang="en-US" sz="1400" dirty="0"/>
                </a:b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Restoration objective: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e>
                      </m:func>
                      <m:r>
                        <a:rPr lang="ar-AE" sz="1400" i="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𝐻𝑥</m:t>
                      </m:r>
                      <m:r>
                        <a:rPr lang="ar-AE" sz="1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:r>
                  <a:rPr lang="ar-AE" sz="1400" dirty="0"/>
                  <a:t>• </a:t>
                </a:r>
                <a:r>
                  <a:rPr lang="en-US" sz="1400" dirty="0"/>
                  <a:t>The first term (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400" dirty="0"/>
                  <a:t>) </a:t>
                </a:r>
                <a:r>
                  <a:rPr lang="en-US" sz="1400" dirty="0"/>
                  <a:t>ensures </a:t>
                </a:r>
                <a:r>
                  <a:rPr lang="en-US" sz="1400" b="1" dirty="0"/>
                  <a:t>data fidelity</a:t>
                </a:r>
                <a:r>
                  <a:rPr lang="en-US" sz="1400" dirty="0"/>
                  <a:t> — the restored image should be close to the observed one.</a:t>
                </a:r>
                <a:br>
                  <a:rPr lang="en-US" sz="1400" dirty="0"/>
                </a:br>
                <a:r>
                  <a:rPr lang="en-US" sz="1400" dirty="0"/>
                  <a:t>• The second term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400" dirty="0"/>
                  <a:t>) </a:t>
                </a:r>
                <a:r>
                  <a:rPr lang="en-US" sz="1400" dirty="0"/>
                  <a:t>acts as a </a:t>
                </a:r>
                <a:r>
                  <a:rPr lang="en-US" sz="1400" b="1" dirty="0" err="1"/>
                  <a:t>regularizer</a:t>
                </a:r>
                <a:r>
                  <a:rPr lang="en-US" sz="1400" dirty="0"/>
                  <a:t> — enforces prior knowledge such as smoothness or natural image statistics.</a:t>
                </a:r>
              </a:p>
              <a:p>
                <a:pPr>
                  <a:buNone/>
                </a:pPr>
                <a:br>
                  <a:rPr lang="en-US" sz="1400" dirty="0"/>
                </a:b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Deep Learning Interpretation: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In classical methods,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400" dirty="0"/>
                  <a:t>is </a:t>
                </a:r>
                <a:r>
                  <a:rPr lang="en-US" sz="1400" b="1" dirty="0"/>
                  <a:t>explicitly defined</a:t>
                </a:r>
                <a:r>
                  <a:rPr lang="en-US" sz="1400" dirty="0"/>
                  <a:t> (e.g., Total Variation, sparsity).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In deep learning, the network </a:t>
                </a:r>
                <a:r>
                  <a:rPr lang="en-US" sz="1400" b="1" dirty="0"/>
                  <a:t>implicitly learns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400" dirty="0"/>
                  <a:t>from data.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The network learns a mapping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sz="1400" i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400" dirty="0"/>
                  <a:t> that minimizes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400" b="0" i="1">
                          <a:latin typeface="Cambria Math" panose="02040503050406030204" pitchFamily="18" charset="0"/>
                        </a:rPr>
                        <m:t>  </m:t>
                      </m:r>
                      <m:sSub>
                        <m:sSub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sepChr m:val=","/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b>
                      </m:sSub>
                      <m:r>
                        <a:rPr lang="ar-AE" sz="1400" b="0" i="0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sz="14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4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400" b="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400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4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6F910-BBC8-F2FC-D310-5001A0DDF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00" y="1051426"/>
                <a:ext cx="7767125" cy="4755148"/>
              </a:xfrm>
              <a:prstGeom prst="rect">
                <a:avLst/>
              </a:prstGeom>
              <a:blipFill>
                <a:blip r:embed="rId3"/>
                <a:stretch>
                  <a:fillRect l="-314" t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69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E678-4D3D-2D0A-D0FB-18E2F702B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F33DC2-A0F7-A557-428D-95EF27C0CAFC}"/>
              </a:ext>
            </a:extLst>
          </p:cNvPr>
          <p:cNvSpPr txBox="1"/>
          <p:nvPr/>
        </p:nvSpPr>
        <p:spPr>
          <a:xfrm>
            <a:off x="975946" y="419360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Restoration Tasks — Mathematical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4AC3F-F676-A1C7-48F5-DB4B09E97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78" y="1056944"/>
            <a:ext cx="6649378" cy="4744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385C51-AB42-CE7F-F590-1D09CACD2FD0}"/>
              </a:ext>
            </a:extLst>
          </p:cNvPr>
          <p:cNvSpPr txBox="1"/>
          <p:nvPr/>
        </p:nvSpPr>
        <p:spPr>
          <a:xfrm>
            <a:off x="8244231" y="6035497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(Zhang et al., 2017)./Multiple</a:t>
            </a:r>
          </a:p>
        </p:txBody>
      </p:sp>
    </p:spTree>
    <p:extLst>
      <p:ext uri="{BB962C8B-B14F-4D97-AF65-F5344CB8AC3E}">
        <p14:creationId xmlns:p14="http://schemas.microsoft.com/office/powerpoint/2010/main" val="359492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EC38-ED6F-8BB5-98E9-BC283BDD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85E6E2-FD3D-1DC3-275B-C84DE23AF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179" y="2523998"/>
            <a:ext cx="6563641" cy="1810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292BEE-74AB-E393-DD1B-3C5D8B51A463}"/>
              </a:ext>
            </a:extLst>
          </p:cNvPr>
          <p:cNvSpPr txBox="1"/>
          <p:nvPr/>
        </p:nvSpPr>
        <p:spPr>
          <a:xfrm>
            <a:off x="1089965" y="839462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Two Main Types of Image Quality Metrics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5749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912C-D491-88E2-7458-3054D882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50383C-214C-7F00-FD27-DEBB8033C0D3}"/>
              </a:ext>
            </a:extLst>
          </p:cNvPr>
          <p:cNvSpPr txBox="1"/>
          <p:nvPr/>
        </p:nvSpPr>
        <p:spPr>
          <a:xfrm>
            <a:off x="1133856" y="385920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Full-Reference Image Quality Metric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4AA501-44F9-75BB-6BB5-B6AFEBEF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87" y="1247295"/>
            <a:ext cx="692564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1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3C6B-0B42-CADE-41C5-97166EE1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4F40AA-119F-F7FA-9A56-1C22632F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2228682"/>
            <a:ext cx="6878010" cy="24006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DED6F-5589-298F-F3BB-70CF76C8C06B}"/>
              </a:ext>
            </a:extLst>
          </p:cNvPr>
          <p:cNvGraphicFramePr>
            <a:graphicFrameLocks noGrp="1"/>
          </p:cNvGraphicFramePr>
          <p:nvPr/>
        </p:nvGraphicFramePr>
        <p:xfrm>
          <a:off x="450494" y="122883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867414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072138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69335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550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53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65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504165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24B495A-4AAA-D464-1A1C-8D19934BE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83" y="498078"/>
            <a:ext cx="47371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No-Reference Image Quality Metrics</a:t>
            </a:r>
          </a:p>
        </p:txBody>
      </p:sp>
    </p:spTree>
    <p:extLst>
      <p:ext uri="{BB962C8B-B14F-4D97-AF65-F5344CB8AC3E}">
        <p14:creationId xmlns:p14="http://schemas.microsoft.com/office/powerpoint/2010/main" val="329296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9B5A-D0E7-C743-8A3D-ADB3BCF59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D470B-1F73-8D27-B447-891EB98DCA54}"/>
              </a:ext>
            </a:extLst>
          </p:cNvPr>
          <p:cNvSpPr txBox="1"/>
          <p:nvPr/>
        </p:nvSpPr>
        <p:spPr>
          <a:xfrm>
            <a:off x="1862986" y="6119217"/>
            <a:ext cx="9787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“Classical filters clean images — but at the cost of sharpness.”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89EE3-F73F-55BB-412E-DB71FFF754EE}"/>
              </a:ext>
            </a:extLst>
          </p:cNvPr>
          <p:cNvSpPr txBox="1"/>
          <p:nvPr/>
        </p:nvSpPr>
        <p:spPr>
          <a:xfrm>
            <a:off x="1455726" y="765657"/>
            <a:ext cx="9319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Objective:</a:t>
            </a:r>
            <a:r>
              <a:rPr lang="en-GB" dirty="0"/>
              <a:t> Restore clarity using mathematical filters — no learning involved.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4C59E-3ECC-49AC-ED9E-3BCD433625CC}"/>
              </a:ext>
            </a:extLst>
          </p:cNvPr>
          <p:cNvSpPr txBox="1"/>
          <p:nvPr/>
        </p:nvSpPr>
        <p:spPr>
          <a:xfrm>
            <a:off x="1455726" y="3871073"/>
            <a:ext cx="610087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Limitations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Blurs fine details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Weak on complex or structured noise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Requires manual tuning</a:t>
            </a:r>
          </a:p>
          <a:p>
            <a:pPr>
              <a:buNone/>
            </a:pPr>
            <a:r>
              <a:rPr lang="en-GB" sz="1600" b="1" dirty="0"/>
              <a:t>Legacy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Foundation for model-based (TV) and learning-based (</a:t>
            </a:r>
            <a:r>
              <a:rPr lang="en-GB" sz="1600" dirty="0" err="1"/>
              <a:t>DnCNN</a:t>
            </a:r>
            <a:r>
              <a:rPr lang="en-GB" sz="1600" dirty="0"/>
              <a:t>, </a:t>
            </a:r>
            <a:r>
              <a:rPr lang="en-GB" sz="1600" dirty="0" err="1"/>
              <a:t>UNet</a:t>
            </a:r>
            <a:r>
              <a:rPr lang="en-GB" sz="1600" dirty="0"/>
              <a:t>)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Still useful for preprocessing and benchmarking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C0021-725A-B07D-DAE9-E7C26BB5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754" y="1875029"/>
            <a:ext cx="6582694" cy="18100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E35895-96B9-82EB-9036-D9BD4EB39DA0}"/>
              </a:ext>
            </a:extLst>
          </p:cNvPr>
          <p:cNvSpPr txBox="1"/>
          <p:nvPr/>
        </p:nvSpPr>
        <p:spPr>
          <a:xfrm>
            <a:off x="731521" y="303304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Classical Image Restoration – The Filter Era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95063-6ECC-1182-BED4-F2AB346665CD}"/>
              </a:ext>
            </a:extLst>
          </p:cNvPr>
          <p:cNvSpPr txBox="1"/>
          <p:nvPr/>
        </p:nvSpPr>
        <p:spPr>
          <a:xfrm>
            <a:off x="1455726" y="1320343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Common Filters</a:t>
            </a:r>
          </a:p>
        </p:txBody>
      </p:sp>
    </p:spTree>
    <p:extLst>
      <p:ext uri="{BB962C8B-B14F-4D97-AF65-F5344CB8AC3E}">
        <p14:creationId xmlns:p14="http://schemas.microsoft.com/office/powerpoint/2010/main" val="88665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6D23-4660-F5BE-13F8-34293B0A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C43811-711F-F642-3403-18ACA34D0F09}"/>
              </a:ext>
            </a:extLst>
          </p:cNvPr>
          <p:cNvSpPr txBox="1"/>
          <p:nvPr/>
        </p:nvSpPr>
        <p:spPr>
          <a:xfrm>
            <a:off x="483577" y="345669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Classical Image Restoration Methods</a:t>
            </a:r>
            <a:endParaRPr lang="en-US" alt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7396EC22-3AC3-AFF1-D28B-32677324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718" y="1231958"/>
            <a:ext cx="79834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Operate directly on pixel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Filtering techniques: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/ Median filters — remove random noise (e.g., salt-and-pepper).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Wiener filter — balances noise suppression and detail preservation.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Simple, fast, effective for small degradations.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blur edges and fine details.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7D328-172F-8D3E-FA41-1EB636B4C1A3}"/>
              </a:ext>
            </a:extLst>
          </p:cNvPr>
          <p:cNvSpPr txBox="1"/>
          <p:nvPr/>
        </p:nvSpPr>
        <p:spPr>
          <a:xfrm>
            <a:off x="975946" y="831848"/>
            <a:ext cx="6101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Abadi" panose="020B0604020104020204" pitchFamily="34" charset="0"/>
              </a:rPr>
              <a:t>Spatial</a:t>
            </a:r>
            <a:r>
              <a:rPr lang="en-US" sz="1400" dirty="0"/>
              <a:t> </a:t>
            </a:r>
            <a:r>
              <a:rPr lang="en-US" dirty="0">
                <a:solidFill>
                  <a:schemeClr val="accent1"/>
                </a:solidFill>
                <a:latin typeface="Abadi" panose="020B0604020104020204" pitchFamily="34" charset="0"/>
              </a:rPr>
              <a:t>Domain</a:t>
            </a:r>
            <a:r>
              <a:rPr lang="en-US" sz="1400" dirty="0"/>
              <a:t> </a:t>
            </a:r>
            <a:r>
              <a:rPr lang="en-US" sz="2000" dirty="0">
                <a:solidFill>
                  <a:schemeClr val="accent1"/>
                </a:solidFill>
                <a:latin typeface="Abadi" panose="020B0604020104020204" pitchFamily="34" charset="0"/>
              </a:rPr>
              <a:t>Methods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DDB3021-DFD7-5908-8B4E-E854BAFFC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718" y="4149572"/>
            <a:ext cx="76001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images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Fourier domain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approaches: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filtering — attempts to reverse degradation (H).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Wiener filtering — incorporates noise statistics for better restoration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for known degradation models (blur, motion).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Sensitive to noise and requires accurate degradation model.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24D689-E294-82AB-4AEC-CA1721454194}"/>
              </a:ext>
            </a:extLst>
          </p:cNvPr>
          <p:cNvSpPr txBox="1"/>
          <p:nvPr/>
        </p:nvSpPr>
        <p:spPr>
          <a:xfrm>
            <a:off x="975946" y="3678781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badi" panose="020B0604020104020204" pitchFamily="34" charset="0"/>
              </a:rPr>
              <a:t>Frequency Domain Methods</a:t>
            </a:r>
          </a:p>
        </p:txBody>
      </p:sp>
    </p:spTree>
    <p:extLst>
      <p:ext uri="{BB962C8B-B14F-4D97-AF65-F5344CB8AC3E}">
        <p14:creationId xmlns:p14="http://schemas.microsoft.com/office/powerpoint/2010/main" val="283687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C7EA1-D78B-DAAD-1058-8F95699D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FE5C08-CD3F-C53E-E2B9-C6C1BCA29746}"/>
                  </a:ext>
                </a:extLst>
              </p:cNvPr>
              <p:cNvSpPr txBox="1"/>
              <p:nvPr/>
            </p:nvSpPr>
            <p:spPr>
              <a:xfrm>
                <a:off x="1278402" y="426184"/>
                <a:ext cx="8449408" cy="292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  <a:latin typeface="Abadi" panose="020B0604020104020204" pitchFamily="34" charset="0"/>
                  </a:rPr>
                  <a:t>Regularization-Based Methods</a:t>
                </a:r>
              </a:p>
              <a:p>
                <a:endParaRPr lang="en-US" sz="2000" dirty="0">
                  <a:solidFill>
                    <a:schemeClr val="accent1"/>
                  </a:solidFill>
                  <a:latin typeface="Abadi" panose="020B0604020104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Solve optimization problem: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/>
                            </m:fun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func>
                    <m:r>
                      <a:rPr lang="ar-AE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br>
                  <a:rPr lang="ar-AE" dirty="0"/>
                </a:br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R(x)</a:t>
                </a:r>
                <a:r>
                  <a:rPr lang="en-US" dirty="0"/>
                  <a:t> encodes prior knowledge: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Total Variation (TV) — preserves edges.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Tikhonov regularization — enforces smoothness.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Pros:</a:t>
                </a:r>
                <a:r>
                  <a:rPr lang="en-US" dirty="0"/>
                  <a:t> Flexible, mathematically grounded.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Cons:</a:t>
                </a:r>
                <a:r>
                  <a:rPr lang="en-US" dirty="0"/>
                  <a:t> Computationally expensive.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FE5C08-CD3F-C53E-E2B9-C6C1BCA29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402" y="426184"/>
                <a:ext cx="8449408" cy="2923877"/>
              </a:xfrm>
              <a:prstGeom prst="rect">
                <a:avLst/>
              </a:prstGeom>
              <a:blipFill>
                <a:blip r:embed="rId3"/>
                <a:stretch>
                  <a:fillRect l="-794" t="-125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CA012C-DE3A-36C9-4F5D-A15997E80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604" y="4080760"/>
            <a:ext cx="6554115" cy="2448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77BD6F-9A1B-3F8F-A0E8-F9A69C506B25}"/>
              </a:ext>
            </a:extLst>
          </p:cNvPr>
          <p:cNvSpPr txBox="1"/>
          <p:nvPr/>
        </p:nvSpPr>
        <p:spPr>
          <a:xfrm>
            <a:off x="4450666" y="3507940"/>
            <a:ext cx="210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Summary</a:t>
            </a:r>
            <a:r>
              <a:rPr lang="en-US" dirty="0"/>
              <a:t> 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427707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11659-7FBA-853B-03E3-581F3057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ED05D-8805-4889-2116-8AE618708C22}"/>
              </a:ext>
            </a:extLst>
          </p:cNvPr>
          <p:cNvSpPr txBox="1"/>
          <p:nvPr/>
        </p:nvSpPr>
        <p:spPr>
          <a:xfrm>
            <a:off x="1798026" y="2551837"/>
            <a:ext cx="9954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dirty="0"/>
              <a:t>Limitations of Classical Image Restoration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Require explicit mathematical priors (blur kernel, noise model).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    Struggle with </a:t>
            </a:r>
            <a:r>
              <a:rPr lang="en-GB" b="1" dirty="0"/>
              <a:t>nonlinear</a:t>
            </a:r>
            <a:r>
              <a:rPr lang="en-GB" dirty="0"/>
              <a:t>, </a:t>
            </a:r>
            <a:r>
              <a:rPr lang="en-GB" b="1" dirty="0"/>
              <a:t>unknown</a:t>
            </a:r>
            <a:r>
              <a:rPr lang="en-GB" dirty="0"/>
              <a:t>, and </a:t>
            </a:r>
            <a:r>
              <a:rPr lang="en-GB" b="1" dirty="0"/>
              <a:t>real-world degradations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    Optimization-based — slow and not scalable for real-time 5G edge use.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   Sensitive to parameter tuning; performance drops in complex scenes.</a:t>
            </a:r>
            <a:br>
              <a:rPr lang="en-GB" dirty="0"/>
            </a:b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9070A-5A04-619F-009E-2A0BB4B71785}"/>
              </a:ext>
            </a:extLst>
          </p:cNvPr>
          <p:cNvSpPr txBox="1"/>
          <p:nvPr/>
        </p:nvSpPr>
        <p:spPr>
          <a:xfrm>
            <a:off x="673491" y="560756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Why Move Beyond Classical Methods?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82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6887-D9F4-CCE3-C690-81736DC5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9502CC5-97B4-4D0F-E9F2-144208900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92" y="599148"/>
            <a:ext cx="7574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The Shift: From Handcrafted Priors to Data-Driven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C2F87-2505-BAED-AFD8-FD55FA23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013" y="2513683"/>
            <a:ext cx="6611273" cy="2638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2D8AC7-1E73-BDC0-918D-E8DCAC1AB274}"/>
              </a:ext>
            </a:extLst>
          </p:cNvPr>
          <p:cNvSpPr txBox="1"/>
          <p:nvPr/>
        </p:nvSpPr>
        <p:spPr>
          <a:xfrm>
            <a:off x="1336580" y="1433305"/>
            <a:ext cx="111574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dirty="0">
                <a:solidFill>
                  <a:schemeClr val="accent1"/>
                </a:solidFill>
                <a:latin typeface="Abadi" panose="020B0604020104020204" pitchFamily="34" charset="0"/>
              </a:rPr>
              <a:t>“Classical models restore images mathematically </a:t>
            </a:r>
          </a:p>
          <a:p>
            <a:pPr lvl="1"/>
            <a:r>
              <a:rPr lang="en-GB" sz="2000" dirty="0">
                <a:solidFill>
                  <a:schemeClr val="accent1"/>
                </a:solidFill>
                <a:latin typeface="Abadi" panose="020B0604020104020204" pitchFamily="34" charset="0"/>
              </a:rPr>
              <a:t>                                                — Deep Learning restores them intelligently.”</a:t>
            </a:r>
          </a:p>
        </p:txBody>
      </p:sp>
    </p:spTree>
    <p:extLst>
      <p:ext uri="{BB962C8B-B14F-4D97-AF65-F5344CB8AC3E}">
        <p14:creationId xmlns:p14="http://schemas.microsoft.com/office/powerpoint/2010/main" val="160750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F94AD-8F06-7916-EAFB-D1684CE8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0777C5-D8E9-9A16-5474-98C7E329968F}"/>
              </a:ext>
            </a:extLst>
          </p:cNvPr>
          <p:cNvSpPr txBox="1"/>
          <p:nvPr/>
        </p:nvSpPr>
        <p:spPr>
          <a:xfrm>
            <a:off x="820410" y="262812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Deep Learning Enters — CNN Era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45F64-986A-9F95-135A-9FD87CB57E49}"/>
              </a:ext>
            </a:extLst>
          </p:cNvPr>
          <p:cNvSpPr txBox="1"/>
          <p:nvPr/>
        </p:nvSpPr>
        <p:spPr>
          <a:xfrm>
            <a:off x="1843429" y="936618"/>
            <a:ext cx="1128380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 Paradigm Shift</a:t>
            </a:r>
          </a:p>
          <a:p>
            <a:endParaRPr lang="en-US" sz="1400" b="1" dirty="0"/>
          </a:p>
          <a:p>
            <a:r>
              <a:rPr lang="en-US" sz="1400" dirty="0"/>
              <a:t>• 	Classical filters relied on hand-crafted rules.</a:t>
            </a:r>
          </a:p>
          <a:p>
            <a:r>
              <a:rPr lang="en-US" sz="1400" dirty="0"/>
              <a:t>• 	Deep learning introduced data-driven learning for image restoration.</a:t>
            </a:r>
          </a:p>
          <a:p>
            <a:r>
              <a:rPr lang="en-US" sz="1400" dirty="0"/>
              <a:t>• 	Convolutional Neural Networks (CNNs) became the backbone of this revolution.</a:t>
            </a:r>
          </a:p>
          <a:p>
            <a:endParaRPr lang="en-US" sz="1400" b="1" dirty="0"/>
          </a:p>
          <a:p>
            <a:r>
              <a:rPr lang="en-US" sz="1400" b="1" dirty="0"/>
              <a:t>Key Innovations</a:t>
            </a:r>
          </a:p>
          <a:p>
            <a:endParaRPr lang="en-US" sz="1400" b="1" dirty="0"/>
          </a:p>
          <a:p>
            <a:r>
              <a:rPr lang="en-US" sz="1400" dirty="0"/>
              <a:t>• 	End-to-End Learning: Networks learn to map noisy inputs to clean outputs directly.</a:t>
            </a:r>
          </a:p>
          <a:p>
            <a:r>
              <a:rPr lang="en-US" sz="1400" dirty="0"/>
              <a:t>• 	Feature Hierarchies: CNNs extract multi-scale features — from edges to textures.</a:t>
            </a:r>
          </a:p>
          <a:p>
            <a:r>
              <a:rPr lang="en-US" sz="1400" dirty="0"/>
              <a:t>• 	Residual Learning: Techniques like </a:t>
            </a:r>
            <a:r>
              <a:rPr lang="en-US" sz="1400" dirty="0" err="1"/>
              <a:t>DnCNN</a:t>
            </a:r>
            <a:r>
              <a:rPr lang="en-US" sz="1400" dirty="0"/>
              <a:t> use residuals to simplify training and boost performance.</a:t>
            </a:r>
          </a:p>
          <a:p>
            <a:endParaRPr lang="en-US" sz="1400" b="1" dirty="0"/>
          </a:p>
          <a:p>
            <a:r>
              <a:rPr lang="en-US" sz="1400" b="1" dirty="0"/>
              <a:t>Advantages Over Classical Filters</a:t>
            </a:r>
          </a:p>
          <a:p>
            <a:endParaRPr lang="en-US" sz="1400" b="1" dirty="0"/>
          </a:p>
          <a:p>
            <a:r>
              <a:rPr lang="en-US" sz="1400" dirty="0"/>
              <a:t>• 	Learns complex noise patterns from data.</a:t>
            </a:r>
          </a:p>
          <a:p>
            <a:r>
              <a:rPr lang="en-US" sz="1400" dirty="0"/>
              <a:t>• 	Preserves fine details and textures.</a:t>
            </a:r>
          </a:p>
          <a:p>
            <a:r>
              <a:rPr lang="en-US" sz="1400" dirty="0"/>
              <a:t>• 	Generalizes across diverse degradation types.</a:t>
            </a:r>
          </a:p>
          <a:p>
            <a:endParaRPr lang="en-US" sz="1400" dirty="0"/>
          </a:p>
          <a:p>
            <a:r>
              <a:rPr lang="en-US" sz="1400" b="1" dirty="0"/>
              <a:t>Milestone Models</a:t>
            </a:r>
          </a:p>
          <a:p>
            <a:endParaRPr lang="en-US" sz="1400" b="1" dirty="0"/>
          </a:p>
          <a:p>
            <a:r>
              <a:rPr lang="en-US" sz="1400" dirty="0"/>
              <a:t>• 	</a:t>
            </a:r>
            <a:r>
              <a:rPr lang="en-US" sz="1400" dirty="0" err="1"/>
              <a:t>DnCNN</a:t>
            </a:r>
            <a:r>
              <a:rPr lang="en-US" sz="1400" dirty="0"/>
              <a:t>: Residual CNN for Gaussian denoising.</a:t>
            </a:r>
          </a:p>
          <a:p>
            <a:r>
              <a:rPr lang="en-US" sz="1400" dirty="0"/>
              <a:t>• 	IRCNN: Combines model-based priors with CNNs.</a:t>
            </a:r>
          </a:p>
          <a:p>
            <a:r>
              <a:rPr lang="en-US" sz="1400" dirty="0"/>
              <a:t>• 	</a:t>
            </a:r>
            <a:r>
              <a:rPr lang="en-US" sz="1400" dirty="0" err="1"/>
              <a:t>FFDNet</a:t>
            </a:r>
            <a:r>
              <a:rPr lang="en-US" sz="1400" dirty="0"/>
              <a:t>: Handles variable noise levels with a noise map input.</a:t>
            </a:r>
          </a:p>
        </p:txBody>
      </p:sp>
    </p:spTree>
    <p:extLst>
      <p:ext uri="{BB962C8B-B14F-4D97-AF65-F5344CB8AC3E}">
        <p14:creationId xmlns:p14="http://schemas.microsoft.com/office/powerpoint/2010/main" val="234395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413B-A45B-A035-E2DB-BEEB8074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53F329-0FFC-30AD-3E61-D8FA102A7641}"/>
              </a:ext>
            </a:extLst>
          </p:cNvPr>
          <p:cNvSpPr txBox="1"/>
          <p:nvPr/>
        </p:nvSpPr>
        <p:spPr>
          <a:xfrm>
            <a:off x="867747" y="889843"/>
            <a:ext cx="85118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Origin</a:t>
            </a:r>
            <a:endParaRPr lang="en-US" dirty="0"/>
          </a:p>
          <a:p>
            <a:r>
              <a:rPr lang="en-US" dirty="0"/>
              <a:t>Inspired by human visual cortex (Hubel &amp; Wiesel).</a:t>
            </a:r>
          </a:p>
          <a:p>
            <a:r>
              <a:rPr lang="en-US" dirty="0"/>
              <a:t>Early model: </a:t>
            </a:r>
            <a:r>
              <a:rPr lang="en-US" dirty="0" err="1"/>
              <a:t>Neocognitron</a:t>
            </a:r>
            <a:r>
              <a:rPr lang="en-US" dirty="0"/>
              <a:t> (1980).</a:t>
            </a:r>
          </a:p>
          <a:p>
            <a:endParaRPr lang="en-US" dirty="0"/>
          </a:p>
          <a:p>
            <a:r>
              <a:rPr lang="en-US" b="1" dirty="0"/>
              <a:t>Milestones</a:t>
            </a:r>
            <a:endParaRPr lang="en-US" dirty="0"/>
          </a:p>
          <a:p>
            <a:pPr lvl="1"/>
            <a:r>
              <a:rPr lang="en-US" b="1" dirty="0"/>
              <a:t>LeNet-5 (1998):</a:t>
            </a:r>
            <a:r>
              <a:rPr lang="en-US" dirty="0"/>
              <a:t> Digit recognition.</a:t>
            </a:r>
          </a:p>
          <a:p>
            <a:pPr lvl="1"/>
            <a:r>
              <a:rPr lang="en-US" b="1" dirty="0" err="1"/>
              <a:t>AlexNet</a:t>
            </a:r>
            <a:r>
              <a:rPr lang="en-US" b="1" dirty="0"/>
              <a:t> (2012):</a:t>
            </a:r>
            <a:r>
              <a:rPr lang="en-US" dirty="0"/>
              <a:t> ImageNet breakthrough.</a:t>
            </a:r>
          </a:p>
          <a:p>
            <a:pPr lvl="1"/>
            <a:r>
              <a:rPr lang="en-US" b="1" dirty="0" err="1"/>
              <a:t>VGGNet</a:t>
            </a:r>
            <a:r>
              <a:rPr lang="en-US" b="1" dirty="0"/>
              <a:t> (2014), </a:t>
            </a:r>
            <a:r>
              <a:rPr lang="en-US" b="1" dirty="0" err="1"/>
              <a:t>ResNet</a:t>
            </a:r>
            <a:r>
              <a:rPr lang="en-US" b="1" dirty="0"/>
              <a:t> (2015):</a:t>
            </a:r>
            <a:r>
              <a:rPr lang="en-US" dirty="0"/>
              <a:t> Deeper, more stable CNNs.</a:t>
            </a:r>
          </a:p>
          <a:p>
            <a:r>
              <a:rPr lang="en-US" b="1" dirty="0"/>
              <a:t>Architecture</a:t>
            </a:r>
            <a:endParaRPr lang="en-US" dirty="0"/>
          </a:p>
          <a:p>
            <a:pPr lvl="1"/>
            <a:r>
              <a:rPr lang="en-US" b="1" dirty="0"/>
              <a:t>Convolutions:</a:t>
            </a:r>
            <a:r>
              <a:rPr lang="en-US" dirty="0"/>
              <a:t> Local feature extraction.</a:t>
            </a:r>
          </a:p>
          <a:p>
            <a:pPr lvl="1"/>
            <a:r>
              <a:rPr lang="en-US" b="1" dirty="0"/>
              <a:t>Pooling:</a:t>
            </a:r>
            <a:r>
              <a:rPr lang="en-US" dirty="0"/>
              <a:t> </a:t>
            </a:r>
            <a:r>
              <a:rPr lang="en-US" dirty="0" err="1"/>
              <a:t>Downsampling</a:t>
            </a:r>
            <a:r>
              <a:rPr lang="en-US" dirty="0"/>
              <a:t> + invariance.</a:t>
            </a:r>
          </a:p>
          <a:p>
            <a:pPr lvl="1"/>
            <a:r>
              <a:rPr lang="en-US" b="1" dirty="0"/>
              <a:t>Fully Connected:</a:t>
            </a:r>
            <a:r>
              <a:rPr lang="en-US" dirty="0"/>
              <a:t> Final predictions.</a:t>
            </a:r>
          </a:p>
          <a:p>
            <a:r>
              <a:rPr lang="en-US" b="1" dirty="0"/>
              <a:t>Why for Image Restoration</a:t>
            </a:r>
            <a:endParaRPr lang="en-US" dirty="0"/>
          </a:p>
          <a:p>
            <a:pPr lvl="1"/>
            <a:r>
              <a:rPr lang="en-US" dirty="0"/>
              <a:t>Captures spatial and hierarchical patterns.</a:t>
            </a:r>
          </a:p>
          <a:p>
            <a:pPr lvl="1"/>
            <a:r>
              <a:rPr lang="en-US" dirty="0"/>
              <a:t>Weight sharing → efficient learning.</a:t>
            </a:r>
          </a:p>
          <a:p>
            <a:pPr lvl="1"/>
            <a:r>
              <a:rPr lang="en-US" dirty="0"/>
              <a:t>Strong performance in denoising, deblurring, super-resolution, inpainting.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79A90-CFE1-EF10-E6D8-738ED35BE944}"/>
              </a:ext>
            </a:extLst>
          </p:cNvPr>
          <p:cNvSpPr txBox="1"/>
          <p:nvPr/>
        </p:nvSpPr>
        <p:spPr>
          <a:xfrm>
            <a:off x="620451" y="205888"/>
            <a:ext cx="10576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Convolutional</a:t>
            </a:r>
            <a:r>
              <a:rPr lang="en-US" sz="2800" b="1" dirty="0"/>
              <a:t> </a:t>
            </a:r>
            <a:r>
              <a:rPr 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Neural Networks (CNNs) – History &amp;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AD04C-6B6A-6543-80D6-437BC6606D13}"/>
              </a:ext>
            </a:extLst>
          </p:cNvPr>
          <p:cNvSpPr txBox="1"/>
          <p:nvPr/>
        </p:nvSpPr>
        <p:spPr>
          <a:xfrm>
            <a:off x="155037" y="5644991"/>
            <a:ext cx="11881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“While CNNs are conventionally used for object detection and classification, in this project CNNs are leveraged for low-level vision tasks such as denoising and deblurring, where spatial feature extraction is equally important.”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23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1529-397F-A704-3914-2971E342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E9A1C-3897-3617-C559-9B548DCAD4D6}"/>
              </a:ext>
            </a:extLst>
          </p:cNvPr>
          <p:cNvSpPr txBox="1"/>
          <p:nvPr/>
        </p:nvSpPr>
        <p:spPr>
          <a:xfrm>
            <a:off x="276447" y="223284"/>
            <a:ext cx="8654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0" dirty="0">
                <a:solidFill>
                  <a:srgbClr val="5B15C1"/>
                </a:solidFill>
                <a:latin typeface="BT Curve Headline" panose="020B0603020203020204" pitchFamily="34" charset="0"/>
              </a:rPr>
              <a:t>But CNNs had limits…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56AC66-9DAD-8AAA-3FA9-D1384C2E92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59331" y="853761"/>
            <a:ext cx="887333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Receptive Field: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Weak at capturing global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Over-Smoothing: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MSE-like losses blur fine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Degradations: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Struggles with unknown or mixed noise/blur.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models need heavy memory and training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Generalization: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on synthetic data; poor on real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Non-Local Modeling: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Misses repeating textures/patterns.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Hungry: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Needs large clean–distorted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Perceptual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Optimizes pixels, not human visual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Sensitive: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settings highly impactful.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Interpretability: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 to understand model decisions.</a:t>
            </a:r>
          </a:p>
        </p:txBody>
      </p:sp>
    </p:spTree>
    <p:extLst>
      <p:ext uri="{BB962C8B-B14F-4D97-AF65-F5344CB8AC3E}">
        <p14:creationId xmlns:p14="http://schemas.microsoft.com/office/powerpoint/2010/main" val="28729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9277-1B7A-D335-892B-4AC8483D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6B5DC-258B-1A46-D797-963E61406DD7}"/>
              </a:ext>
            </a:extLst>
          </p:cNvPr>
          <p:cNvSpPr txBox="1"/>
          <p:nvPr/>
        </p:nvSpPr>
        <p:spPr>
          <a:xfrm>
            <a:off x="768097" y="271659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Transformers — the new brain for vision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3F342-D4D2-0D88-B12B-063512869E58}"/>
              </a:ext>
            </a:extLst>
          </p:cNvPr>
          <p:cNvSpPr txBox="1"/>
          <p:nvPr/>
        </p:nvSpPr>
        <p:spPr>
          <a:xfrm>
            <a:off x="1579217" y="911654"/>
            <a:ext cx="1092890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 New Frontier</a:t>
            </a:r>
          </a:p>
          <a:p>
            <a:endParaRPr lang="en-US" sz="1600" dirty="0"/>
          </a:p>
          <a:p>
            <a:r>
              <a:rPr lang="en-US" sz="1600" dirty="0"/>
              <a:t>CNNs capture local features but miss long-range dependencies.</a:t>
            </a:r>
          </a:p>
          <a:p>
            <a:r>
              <a:rPr lang="en-US" sz="1600" dirty="0"/>
              <a:t>Transformers add global attention, enabling deeper contextual understanding.</a:t>
            </a:r>
          </a:p>
          <a:p>
            <a:endParaRPr lang="en-US" sz="1600" dirty="0"/>
          </a:p>
          <a:p>
            <a:r>
              <a:rPr lang="en-US" sz="1600" b="1" dirty="0"/>
              <a:t>Core Concepts</a:t>
            </a:r>
          </a:p>
          <a:p>
            <a:endParaRPr lang="en-US" sz="1600" dirty="0"/>
          </a:p>
          <a:p>
            <a:r>
              <a:rPr lang="en-US" sz="1600" b="1" dirty="0"/>
              <a:t>Self-Attention:</a:t>
            </a:r>
            <a:r>
              <a:rPr lang="en-US" sz="1600" dirty="0"/>
              <a:t> Relates every pixel/patch to every other.</a:t>
            </a:r>
          </a:p>
          <a:p>
            <a:r>
              <a:rPr lang="en-US" sz="1600" b="1" dirty="0"/>
              <a:t>Patch Embedding:</a:t>
            </a:r>
            <a:r>
              <a:rPr lang="en-US" sz="1600" dirty="0"/>
              <a:t> Image → patches → tokens (NLP-style).</a:t>
            </a:r>
          </a:p>
          <a:p>
            <a:r>
              <a:rPr lang="en-US" sz="1600" b="1" dirty="0"/>
              <a:t>Scalability:</a:t>
            </a:r>
            <a:r>
              <a:rPr lang="en-US" sz="1600" dirty="0"/>
              <a:t> Larger data/models → stronger representations.</a:t>
            </a:r>
          </a:p>
          <a:p>
            <a:endParaRPr lang="en-US" sz="1600" dirty="0"/>
          </a:p>
          <a:p>
            <a:r>
              <a:rPr lang="en-US" sz="1600" b="1" dirty="0"/>
              <a:t>Advantages Over CNNs</a:t>
            </a:r>
          </a:p>
          <a:p>
            <a:endParaRPr lang="en-US" sz="1600" dirty="0"/>
          </a:p>
          <a:p>
            <a:r>
              <a:rPr lang="en-US" sz="1600" dirty="0"/>
              <a:t>Models global context effectively.</a:t>
            </a:r>
          </a:p>
          <a:p>
            <a:r>
              <a:rPr lang="en-US" sz="1600" dirty="0"/>
              <a:t>Flexible architecture with fewer built-in biases.</a:t>
            </a:r>
          </a:p>
          <a:p>
            <a:r>
              <a:rPr lang="en-US" sz="1600" dirty="0"/>
              <a:t>Strong results in denoising, deblurring, and super-resolution.</a:t>
            </a:r>
          </a:p>
          <a:p>
            <a:endParaRPr lang="en-US" sz="1600" dirty="0"/>
          </a:p>
          <a:p>
            <a:r>
              <a:rPr lang="en-US" sz="1600" b="1" dirty="0"/>
              <a:t>Landmark Models</a:t>
            </a:r>
          </a:p>
          <a:p>
            <a:endParaRPr lang="en-US" sz="1600" dirty="0"/>
          </a:p>
          <a:p>
            <a:r>
              <a:rPr lang="en-US" sz="1600" b="1" dirty="0" err="1"/>
              <a:t>ViT</a:t>
            </a:r>
            <a:r>
              <a:rPr lang="en-US" sz="1600" b="1" dirty="0"/>
              <a:t>:</a:t>
            </a:r>
            <a:r>
              <a:rPr lang="en-US" sz="1600" dirty="0"/>
              <a:t> Patch-based Transformer for vision.</a:t>
            </a:r>
          </a:p>
          <a:p>
            <a:r>
              <a:rPr lang="en-US" sz="1600" b="1" dirty="0" err="1"/>
              <a:t>SwinIR</a:t>
            </a:r>
            <a:r>
              <a:rPr lang="en-US" sz="1600" b="1" dirty="0"/>
              <a:t>:</a:t>
            </a:r>
            <a:r>
              <a:rPr lang="en-US" sz="1600" dirty="0"/>
              <a:t> Hierarchical Transformer for restoration.</a:t>
            </a:r>
          </a:p>
          <a:p>
            <a:r>
              <a:rPr lang="en-US" sz="1600" b="1" dirty="0" err="1"/>
              <a:t>Restormer</a:t>
            </a:r>
            <a:r>
              <a:rPr lang="en-US" sz="1600" b="1" dirty="0"/>
              <a:t>:</a:t>
            </a:r>
            <a:r>
              <a:rPr lang="en-US" sz="1600" dirty="0"/>
              <a:t> Efficient, high-resolution restoration model.</a:t>
            </a:r>
          </a:p>
        </p:txBody>
      </p:sp>
    </p:spTree>
    <p:extLst>
      <p:ext uri="{BB962C8B-B14F-4D97-AF65-F5344CB8AC3E}">
        <p14:creationId xmlns:p14="http://schemas.microsoft.com/office/powerpoint/2010/main" val="348774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AB3E-2BDD-2A00-866F-D158E26B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3E392-4C16-DDB9-A080-A9ADB36D0614}"/>
              </a:ext>
            </a:extLst>
          </p:cNvPr>
          <p:cNvSpPr txBox="1"/>
          <p:nvPr/>
        </p:nvSpPr>
        <p:spPr>
          <a:xfrm>
            <a:off x="223935" y="182599"/>
            <a:ext cx="866730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Transformers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in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Image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Restoration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–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Evolution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&amp;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Concepts`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519C7-044E-6F02-FEE1-3195334A2758}"/>
              </a:ext>
            </a:extLst>
          </p:cNvPr>
          <p:cNvSpPr txBox="1"/>
          <p:nvPr/>
        </p:nvSpPr>
        <p:spPr>
          <a:xfrm>
            <a:off x="2367289" y="797510"/>
            <a:ext cx="117441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Background</a:t>
            </a:r>
          </a:p>
          <a:p>
            <a:r>
              <a:rPr lang="en-US" sz="1600" dirty="0"/>
              <a:t>Originated in NLP: </a:t>
            </a:r>
            <a:r>
              <a:rPr lang="en-US" sz="1600" i="1" dirty="0"/>
              <a:t>“Attention Is All You Need”</a:t>
            </a:r>
            <a:r>
              <a:rPr lang="en-US" sz="1600" dirty="0"/>
              <a:t> (Vaswani et al., 2017).</a:t>
            </a:r>
          </a:p>
          <a:p>
            <a:r>
              <a:rPr lang="en-US" sz="1600" dirty="0"/>
              <a:t>Self-attention models long-range dependencies and global context.</a:t>
            </a:r>
          </a:p>
          <a:p>
            <a:r>
              <a:rPr lang="en-US" sz="1600" dirty="0"/>
              <a:t>Extended from </a:t>
            </a:r>
            <a:r>
              <a:rPr lang="en-US" sz="1600" dirty="0" err="1"/>
              <a:t>ViT</a:t>
            </a:r>
            <a:r>
              <a:rPr lang="en-US" sz="1600" dirty="0"/>
              <a:t> (2020) to low-level vision tasks: restoration, SR, denoising, etc.</a:t>
            </a:r>
          </a:p>
          <a:p>
            <a:endParaRPr lang="en-US" sz="1600" dirty="0"/>
          </a:p>
          <a:p>
            <a:r>
              <a:rPr lang="en-US" sz="1600" b="1" dirty="0"/>
              <a:t>Key Milestones</a:t>
            </a:r>
          </a:p>
          <a:p>
            <a:r>
              <a:rPr lang="en-US" sz="1600" b="1" dirty="0" err="1"/>
              <a:t>ViT</a:t>
            </a:r>
            <a:r>
              <a:rPr lang="en-US" sz="1600" b="1" dirty="0"/>
              <a:t> (2020):</a:t>
            </a:r>
            <a:r>
              <a:rPr lang="en-US" sz="1600" dirty="0"/>
              <a:t> First vision Transformer.</a:t>
            </a:r>
          </a:p>
          <a:p>
            <a:r>
              <a:rPr lang="en-US" sz="1600" b="1" dirty="0"/>
              <a:t>Swin Transformer (2021):</a:t>
            </a:r>
            <a:r>
              <a:rPr lang="en-US" sz="1600" dirty="0"/>
              <a:t> Shifted-window, hierarchical features.</a:t>
            </a:r>
          </a:p>
          <a:p>
            <a:r>
              <a:rPr lang="en-US" sz="1600" b="1" dirty="0" err="1"/>
              <a:t>SwinIR</a:t>
            </a:r>
            <a:r>
              <a:rPr lang="en-US" sz="1600" b="1" dirty="0"/>
              <a:t> (2021):</a:t>
            </a:r>
            <a:r>
              <a:rPr lang="en-US" sz="1600" dirty="0"/>
              <a:t> Swin Transformer adapted for restoration.</a:t>
            </a:r>
          </a:p>
          <a:p>
            <a:r>
              <a:rPr lang="en-US" sz="1600" b="1" dirty="0" err="1"/>
              <a:t>Restormer</a:t>
            </a:r>
            <a:r>
              <a:rPr lang="en-US" sz="1600" b="1" dirty="0"/>
              <a:t> (2022):</a:t>
            </a:r>
            <a:r>
              <a:rPr lang="en-US" sz="1600" dirty="0"/>
              <a:t> Efficient global attention for high-res images.</a:t>
            </a:r>
          </a:p>
          <a:p>
            <a:r>
              <a:rPr lang="en-US" sz="1600" b="1" dirty="0" err="1"/>
              <a:t>Uformer</a:t>
            </a:r>
            <a:r>
              <a:rPr lang="en-US" sz="1600" b="1" dirty="0"/>
              <a:t> (2022):</a:t>
            </a:r>
            <a:r>
              <a:rPr lang="en-US" sz="1600" dirty="0"/>
              <a:t> U-shaped Transformer for multi-scale restoration.</a:t>
            </a:r>
          </a:p>
          <a:p>
            <a:endParaRPr lang="en-US" sz="1600" dirty="0"/>
          </a:p>
          <a:p>
            <a:r>
              <a:rPr lang="en-US" sz="1600" b="1" dirty="0"/>
              <a:t>Core Ideas</a:t>
            </a:r>
          </a:p>
          <a:p>
            <a:r>
              <a:rPr lang="en-US" sz="1600" b="1" dirty="0"/>
              <a:t>Self-Attention:</a:t>
            </a:r>
            <a:r>
              <a:rPr lang="en-US" sz="1600" dirty="0"/>
              <a:t> Models global pixel/patch relationships.</a:t>
            </a:r>
          </a:p>
          <a:p>
            <a:r>
              <a:rPr lang="en-US" sz="1600" b="1" dirty="0"/>
              <a:t>Hierarchical Design:</a:t>
            </a:r>
            <a:r>
              <a:rPr lang="en-US" sz="1600" dirty="0"/>
              <a:t> Blends local + global context efficiently.</a:t>
            </a:r>
          </a:p>
          <a:p>
            <a:r>
              <a:rPr lang="en-US" sz="1600" b="1" dirty="0"/>
              <a:t>Hybrid Models:</a:t>
            </a:r>
            <a:r>
              <a:rPr lang="en-US" sz="1600" dirty="0"/>
              <a:t> Combine CNN locality with Transformer global reasoning.</a:t>
            </a:r>
          </a:p>
          <a:p>
            <a:endParaRPr lang="en-US" sz="1600" dirty="0"/>
          </a:p>
          <a:p>
            <a:r>
              <a:rPr lang="en-US" sz="1600" b="1" dirty="0"/>
              <a:t>Why Transformers for Restoration</a:t>
            </a:r>
          </a:p>
          <a:p>
            <a:r>
              <a:rPr lang="en-US" sz="1600" dirty="0"/>
              <a:t>Capture global dependencies beyond CNN’s local receptive field.</a:t>
            </a:r>
          </a:p>
          <a:p>
            <a:r>
              <a:rPr lang="en-US" sz="1600" dirty="0"/>
              <a:t>Handle diverse degradations (denoising, deblurring, </a:t>
            </a:r>
            <a:r>
              <a:rPr lang="en-US" sz="1600" dirty="0" err="1"/>
              <a:t>deraining</a:t>
            </a:r>
            <a:r>
              <a:rPr lang="en-US" sz="1600" dirty="0"/>
              <a:t>, SR).</a:t>
            </a:r>
          </a:p>
          <a:p>
            <a:r>
              <a:rPr lang="en-US" sz="1600" dirty="0"/>
              <a:t>Deliver state-of-the-art results on DIV2K, GoPro, SIDD, and more.</a:t>
            </a:r>
          </a:p>
        </p:txBody>
      </p:sp>
    </p:spTree>
    <p:extLst>
      <p:ext uri="{BB962C8B-B14F-4D97-AF65-F5344CB8AC3E}">
        <p14:creationId xmlns:p14="http://schemas.microsoft.com/office/powerpoint/2010/main" val="357468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F378-D6B0-CC1C-230E-3068F1BD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57C0C1-3C4A-B22A-A0B6-8DD5FC868961}"/>
              </a:ext>
            </a:extLst>
          </p:cNvPr>
          <p:cNvSpPr txBox="1"/>
          <p:nvPr/>
        </p:nvSpPr>
        <p:spPr>
          <a:xfrm>
            <a:off x="1525333" y="1211222"/>
            <a:ext cx="1128114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High Computational Cost:</a:t>
            </a:r>
            <a:r>
              <a:rPr lang="en-GB" sz="1600" dirty="0"/>
              <a:t> Quadratic attention makes memory usage heavy and training slow.</a:t>
            </a:r>
          </a:p>
          <a:p>
            <a:endParaRPr lang="en-GB" sz="1600" dirty="0"/>
          </a:p>
          <a:p>
            <a:r>
              <a:rPr lang="en-GB" sz="1600" b="1" dirty="0"/>
              <a:t>Data Hungry:</a:t>
            </a:r>
            <a:r>
              <a:rPr lang="en-GB" sz="1600" dirty="0"/>
              <a:t> Require large, high-quality datasets to effectively learn global dependencies.</a:t>
            </a:r>
          </a:p>
          <a:p>
            <a:endParaRPr lang="en-GB" sz="1600" dirty="0"/>
          </a:p>
          <a:p>
            <a:r>
              <a:rPr lang="en-GB" sz="1600" b="1" dirty="0"/>
              <a:t>Weak Local Detail Capture:</a:t>
            </a:r>
            <a:r>
              <a:rPr lang="en-GB" sz="1600" dirty="0"/>
              <a:t> May miss fine textures and edges compared to CNNs.</a:t>
            </a:r>
          </a:p>
          <a:p>
            <a:endParaRPr lang="en-GB" sz="1600" dirty="0"/>
          </a:p>
          <a:p>
            <a:r>
              <a:rPr lang="en-GB" sz="1600" b="1" dirty="0"/>
              <a:t>Training Instability:</a:t>
            </a:r>
            <a:r>
              <a:rPr lang="en-GB" sz="1600" dirty="0"/>
              <a:t> Highly sensitive to hyperparameters and can diverge without careful tuning.</a:t>
            </a:r>
          </a:p>
          <a:p>
            <a:endParaRPr lang="en-GB" sz="1600" dirty="0"/>
          </a:p>
          <a:p>
            <a:r>
              <a:rPr lang="en-GB" sz="1600" b="1" dirty="0"/>
              <a:t>Overfitting Risk:</a:t>
            </a:r>
            <a:r>
              <a:rPr lang="en-GB" sz="1600" dirty="0"/>
              <a:t> Large model capacity often leads to poor generalization on small datasets.</a:t>
            </a:r>
          </a:p>
          <a:p>
            <a:endParaRPr lang="en-GB" sz="1600" dirty="0"/>
          </a:p>
          <a:p>
            <a:r>
              <a:rPr lang="en-GB" sz="1600" b="1" dirty="0"/>
              <a:t>Slow Inference:</a:t>
            </a:r>
            <a:r>
              <a:rPr lang="en-GB" sz="1600" dirty="0"/>
              <a:t> Processing high-resolution images is computationally expensive.</a:t>
            </a:r>
          </a:p>
          <a:p>
            <a:endParaRPr lang="en-GB" sz="1600" dirty="0"/>
          </a:p>
          <a:p>
            <a:r>
              <a:rPr lang="en-GB" sz="1600" b="1" dirty="0"/>
              <a:t>Architectural Complexity:</a:t>
            </a:r>
            <a:r>
              <a:rPr lang="en-GB" sz="1600" dirty="0"/>
              <a:t> Balancing performance and efficiency requires complex design choices.</a:t>
            </a:r>
          </a:p>
          <a:p>
            <a:endParaRPr lang="en-GB" sz="1600" dirty="0"/>
          </a:p>
          <a:p>
            <a:r>
              <a:rPr lang="en-GB" sz="1600" b="1" dirty="0"/>
              <a:t>Limited Interpretability:</a:t>
            </a:r>
            <a:r>
              <a:rPr lang="en-GB" sz="1600" dirty="0"/>
              <a:t> Attention patterns are difficult to visualize or meaningfully explain.</a:t>
            </a:r>
          </a:p>
          <a:p>
            <a:endParaRPr lang="en-GB" sz="1600" dirty="0"/>
          </a:p>
          <a:p>
            <a:r>
              <a:rPr lang="en-GB" sz="1600" b="1" dirty="0"/>
              <a:t>Resource Intensive:</a:t>
            </a:r>
            <a:r>
              <a:rPr lang="en-GB" sz="1600" dirty="0"/>
              <a:t> Hard to deploy on edge devices or real-time applications due to high compute demands.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55723-1D0F-AC66-65DA-7EA5DE816E6F}"/>
              </a:ext>
            </a:extLst>
          </p:cNvPr>
          <p:cNvSpPr txBox="1"/>
          <p:nvPr/>
        </p:nvSpPr>
        <p:spPr>
          <a:xfrm>
            <a:off x="319061" y="330464"/>
            <a:ext cx="10163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Limitations of Transformer-Based Image Restoration Models</a:t>
            </a:r>
          </a:p>
        </p:txBody>
      </p:sp>
    </p:spTree>
    <p:extLst>
      <p:ext uri="{BB962C8B-B14F-4D97-AF65-F5344CB8AC3E}">
        <p14:creationId xmlns:p14="http://schemas.microsoft.com/office/powerpoint/2010/main" val="2827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7F34-7195-6F8D-2F95-25B974A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89" y="0"/>
            <a:ext cx="9687185" cy="6858000"/>
          </a:xfrm>
        </p:spPr>
        <p:txBody>
          <a:bodyPr anchor="ctr"/>
          <a:lstStyle/>
          <a:p>
            <a:r>
              <a:rPr lang="en-IN" sz="4400" dirty="0"/>
              <a:t>Part 2: Methodology -</a:t>
            </a:r>
            <a:br>
              <a:rPr lang="en-IN" dirty="0"/>
            </a:br>
            <a:r>
              <a:rPr lang="en-US" sz="4400" dirty="0"/>
              <a:t>Hybrid CNN–Transformer Restoration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4A52-503D-77FE-6DC4-CF42D8CA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705BF-AD78-48FA-DF3B-CADC9335F4F9}"/>
              </a:ext>
            </a:extLst>
          </p:cNvPr>
          <p:cNvSpPr txBox="1"/>
          <p:nvPr/>
        </p:nvSpPr>
        <p:spPr>
          <a:xfrm>
            <a:off x="870509" y="1344237"/>
            <a:ext cx="103071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Objective</a:t>
            </a:r>
            <a:br>
              <a:rPr lang="en-US" dirty="0"/>
            </a:br>
            <a:r>
              <a:rPr lang="en-US" dirty="0"/>
              <a:t>Develop a lightweight Hybrid CNN–Transformer model for real-time restoration of degraded images on 5G edge devices.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Data Preparation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degraded images from </a:t>
            </a:r>
            <a:r>
              <a:rPr lang="en-US" b="1" dirty="0"/>
              <a:t>IoT/Edge camera simulations</a:t>
            </a:r>
            <a:r>
              <a:rPr lang="en-US" dirty="0"/>
              <a:t> under low-bandwidth 5G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benchmark datasets: </a:t>
            </a:r>
            <a:r>
              <a:rPr lang="en-US" b="1" dirty="0"/>
              <a:t>SIDD</a:t>
            </a:r>
            <a:r>
              <a:rPr lang="en-US" dirty="0"/>
              <a:t>, </a:t>
            </a:r>
            <a:r>
              <a:rPr lang="en-US" b="1" dirty="0"/>
              <a:t>GoPro</a:t>
            </a:r>
            <a:r>
              <a:rPr lang="en-US" dirty="0"/>
              <a:t>, </a:t>
            </a:r>
            <a:r>
              <a:rPr lang="en-US" b="1" dirty="0"/>
              <a:t>DIV2K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realistic synthetic degradations: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Noise:</a:t>
            </a:r>
            <a:r>
              <a:rPr lang="en-US" dirty="0"/>
              <a:t> Gaussian, Poisson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Blur:</a:t>
            </a:r>
            <a:r>
              <a:rPr lang="en-US" dirty="0"/>
              <a:t> Motion, defocus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Compression:</a:t>
            </a:r>
            <a:r>
              <a:rPr lang="en-US" dirty="0"/>
              <a:t> JPEG artifacts, packet-loss distortions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 images, extract patches, and apply augmentation (rotation, scaling, low-light).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45394-3653-79AD-5528-1EFF58DFAF65}"/>
              </a:ext>
            </a:extLst>
          </p:cNvPr>
          <p:cNvSpPr txBox="1"/>
          <p:nvPr/>
        </p:nvSpPr>
        <p:spPr>
          <a:xfrm>
            <a:off x="724205" y="378604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Objective &amp;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28550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2752-FCCF-DD63-B5B5-F3706C3B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C7135-6EA9-A2B4-9293-F61FB0269C9E}"/>
              </a:ext>
            </a:extLst>
          </p:cNvPr>
          <p:cNvSpPr txBox="1"/>
          <p:nvPr/>
        </p:nvSpPr>
        <p:spPr>
          <a:xfrm>
            <a:off x="870509" y="1344237"/>
            <a:ext cx="103071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Why CNN?</a:t>
            </a:r>
            <a:br>
              <a:rPr lang="en-GB" dirty="0"/>
            </a:br>
            <a:r>
              <a:rPr lang="en-GB" dirty="0"/>
              <a:t>Efficient at learning local, pixel-level details and edges with low compute overhead.</a:t>
            </a:r>
          </a:p>
          <a:p>
            <a:r>
              <a:rPr lang="en-GB" b="1" dirty="0"/>
              <a:t>Method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shallow </a:t>
            </a:r>
            <a:r>
              <a:rPr lang="en-GB" b="1" dirty="0" err="1"/>
              <a:t>depthwise</a:t>
            </a:r>
            <a:r>
              <a:rPr lang="en-GB" b="1" dirty="0"/>
              <a:t> separable convolutions</a:t>
            </a:r>
            <a:r>
              <a:rPr lang="en-GB" dirty="0"/>
              <a:t> to extract fine edge and texture features.</a:t>
            </a:r>
          </a:p>
          <a:p>
            <a:r>
              <a:rPr lang="en-GB" dirty="0"/>
              <a:t>Acts as a </a:t>
            </a:r>
            <a:r>
              <a:rPr lang="en-GB" b="1" dirty="0"/>
              <a:t>local feature encoder</a:t>
            </a:r>
            <a:r>
              <a:rPr lang="en-GB" dirty="0"/>
              <a:t> suitable for real-time edge use.</a:t>
            </a:r>
          </a:p>
          <a:p>
            <a:r>
              <a:rPr lang="en-GB" dirty="0"/>
              <a:t>Preserves structural patterns critical for denoising, deblurring, and artifact removal.</a:t>
            </a:r>
          </a:p>
          <a:p>
            <a:r>
              <a:rPr lang="en-GB" b="1" dirty="0"/>
              <a:t>Output</a:t>
            </a:r>
            <a:endParaRPr lang="en-GB" dirty="0"/>
          </a:p>
          <a:p>
            <a:r>
              <a:rPr lang="en-GB" dirty="0"/>
              <a:t>Set of local feature maps forwarded to Transformer blocks for global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75BA4-06D7-EE0B-95F0-E8441DAC9EA3}"/>
              </a:ext>
            </a:extLst>
          </p:cNvPr>
          <p:cNvSpPr txBox="1"/>
          <p:nvPr/>
        </p:nvSpPr>
        <p:spPr>
          <a:xfrm>
            <a:off x="768097" y="605376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CNN 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298395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2CEA-9343-95BD-7928-8CEB7A39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6EA01-3592-8794-BE89-B8E998AE6ACB}"/>
              </a:ext>
            </a:extLst>
          </p:cNvPr>
          <p:cNvSpPr txBox="1"/>
          <p:nvPr/>
        </p:nvSpPr>
        <p:spPr>
          <a:xfrm>
            <a:off x="870509" y="1344237"/>
            <a:ext cx="103071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Efficient Transformer Attention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windowed self-attention</a:t>
            </a:r>
            <a:r>
              <a:rPr lang="en-GB" dirty="0"/>
              <a:t> to model long-range dependencies at reduced complexity.</a:t>
            </a:r>
          </a:p>
          <a:p>
            <a:r>
              <a:rPr lang="en-GB" dirty="0"/>
              <a:t>Apply </a:t>
            </a:r>
            <a:r>
              <a:rPr lang="en-GB" b="1" dirty="0" err="1"/>
              <a:t>LayerNorm</a:t>
            </a:r>
            <a:r>
              <a:rPr lang="en-GB" b="1" dirty="0"/>
              <a:t> + GELU</a:t>
            </a:r>
            <a:r>
              <a:rPr lang="en-GB" dirty="0"/>
              <a:t> for stable training on high-resolution patches.</a:t>
            </a:r>
          </a:p>
          <a:p>
            <a:r>
              <a:rPr lang="en-GB" b="1" dirty="0"/>
              <a:t>CNN–Transformer Fusion</a:t>
            </a:r>
            <a:endParaRPr lang="en-GB" dirty="0"/>
          </a:p>
          <a:p>
            <a:r>
              <a:rPr lang="en-GB" dirty="0"/>
              <a:t>Combine </a:t>
            </a:r>
            <a:r>
              <a:rPr lang="en-GB" b="1" dirty="0"/>
              <a:t>local clarity (CNN)</a:t>
            </a:r>
            <a:r>
              <a:rPr lang="en-GB" dirty="0"/>
              <a:t> with </a:t>
            </a:r>
            <a:r>
              <a:rPr lang="en-GB" b="1" dirty="0"/>
              <a:t>global consistency (Transformer)</a:t>
            </a:r>
            <a:r>
              <a:rPr lang="en-GB" dirty="0"/>
              <a:t> using adaptive fusion layers.</a:t>
            </a:r>
          </a:p>
          <a:p>
            <a:r>
              <a:rPr lang="en-GB" dirty="0"/>
              <a:t>Use skip connections to retain fine textures and reduce over-smoothing.</a:t>
            </a:r>
          </a:p>
          <a:p>
            <a:r>
              <a:rPr lang="en-GB" dirty="0"/>
              <a:t>Produces a balanced latent representation for high-quality restoration.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A9C54-0F74-997F-62B4-6E48E176C06E}"/>
              </a:ext>
            </a:extLst>
          </p:cNvPr>
          <p:cNvSpPr txBox="1"/>
          <p:nvPr/>
        </p:nvSpPr>
        <p:spPr>
          <a:xfrm>
            <a:off x="782727" y="568800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Transformer Attention &amp; Fusion</a:t>
            </a:r>
          </a:p>
        </p:txBody>
      </p:sp>
    </p:spTree>
    <p:extLst>
      <p:ext uri="{BB962C8B-B14F-4D97-AF65-F5344CB8AC3E}">
        <p14:creationId xmlns:p14="http://schemas.microsoft.com/office/powerpoint/2010/main" val="380462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5310-3A9E-BBE7-40F3-6AEBB120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96FD1F-EDD6-B802-FE79-632BE762BC9E}"/>
              </a:ext>
            </a:extLst>
          </p:cNvPr>
          <p:cNvSpPr txBox="1"/>
          <p:nvPr/>
        </p:nvSpPr>
        <p:spPr>
          <a:xfrm>
            <a:off x="1258214" y="839489"/>
            <a:ext cx="103071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Restoration, Deployment &amp; Evaluation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Restoration Head</a:t>
            </a:r>
            <a:endParaRPr lang="en-US" dirty="0"/>
          </a:p>
          <a:p>
            <a:r>
              <a:rPr lang="en-US" dirty="0"/>
              <a:t>Lightweight reconstruction using </a:t>
            </a:r>
            <a:r>
              <a:rPr lang="en-US" b="1" dirty="0"/>
              <a:t>pixel shuffle / </a:t>
            </a:r>
            <a:r>
              <a:rPr lang="en-US" b="1" dirty="0" err="1"/>
              <a:t>upsampling</a:t>
            </a:r>
            <a:r>
              <a:rPr lang="en-US" b="1" dirty="0"/>
              <a:t> layers</a:t>
            </a:r>
            <a:r>
              <a:rPr lang="en-US" dirty="0"/>
              <a:t>.</a:t>
            </a:r>
          </a:p>
          <a:p>
            <a:r>
              <a:rPr lang="en-US" dirty="0"/>
              <a:t>Outputs enhanced, sharp, and artifact-free images.</a:t>
            </a:r>
          </a:p>
          <a:p>
            <a:endParaRPr lang="en-US" dirty="0"/>
          </a:p>
          <a:p>
            <a:r>
              <a:rPr lang="en-US" b="1" dirty="0"/>
              <a:t>Edge Deployment based on feasibility</a:t>
            </a:r>
            <a:endParaRPr lang="en-US" dirty="0"/>
          </a:p>
          <a:p>
            <a:r>
              <a:rPr lang="en-US" dirty="0"/>
              <a:t>Model compression via </a:t>
            </a:r>
            <a:r>
              <a:rPr lang="en-US" b="1" dirty="0"/>
              <a:t>quantization + pruning</a:t>
            </a:r>
            <a:r>
              <a:rPr lang="en-US" dirty="0"/>
              <a:t> for low-power devices.</a:t>
            </a:r>
          </a:p>
          <a:p>
            <a:r>
              <a:rPr lang="en-US" dirty="0"/>
              <a:t>Deployable on </a:t>
            </a:r>
            <a:r>
              <a:rPr lang="en-US" b="1" dirty="0"/>
              <a:t>Raspberry Pi, Jetson Nano, mobile edge accelerators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Evaluation Metrics</a:t>
            </a:r>
            <a:endParaRPr lang="en-US" dirty="0"/>
          </a:p>
          <a:p>
            <a:r>
              <a:rPr lang="en-US" b="1" dirty="0"/>
              <a:t>Quality:</a:t>
            </a:r>
            <a:r>
              <a:rPr lang="en-US" dirty="0"/>
              <a:t> PSNR, SSIM, NIQE, BRISQUE</a:t>
            </a:r>
          </a:p>
          <a:p>
            <a:r>
              <a:rPr lang="en-US" b="1" dirty="0"/>
              <a:t>Efficiency:</a:t>
            </a:r>
            <a:r>
              <a:rPr lang="en-US" dirty="0"/>
              <a:t> Latency (</a:t>
            </a:r>
            <a:r>
              <a:rPr lang="en-US" dirty="0" err="1"/>
              <a:t>ms</a:t>
            </a:r>
            <a:r>
              <a:rPr lang="en-US" dirty="0"/>
              <a:t>), FLOPs, memory usage</a:t>
            </a:r>
          </a:p>
          <a:p>
            <a:r>
              <a:rPr lang="en-US" b="1" dirty="0"/>
              <a:t>Validation:</a:t>
            </a:r>
            <a:r>
              <a:rPr lang="en-US" dirty="0"/>
              <a:t> Visual comparison before vs. after restoration</a:t>
            </a:r>
          </a:p>
        </p:txBody>
      </p:sp>
    </p:spTree>
    <p:extLst>
      <p:ext uri="{BB962C8B-B14F-4D97-AF65-F5344CB8AC3E}">
        <p14:creationId xmlns:p14="http://schemas.microsoft.com/office/powerpoint/2010/main" val="428300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C441-EDB4-FD54-8AD3-DBCC019D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0F2C-3DB8-DA1C-2C1C-E14EB86C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17" y="-102870"/>
            <a:ext cx="10515058" cy="7098030"/>
          </a:xfrm>
        </p:spPr>
        <p:txBody>
          <a:bodyPr anchor="ctr"/>
          <a:lstStyle/>
          <a:p>
            <a:r>
              <a:rPr lang="en-IN" dirty="0"/>
              <a:t>Part 3:  Result &amp;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8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D590-D6D9-41CA-925E-CC03B2EF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043546-AB77-D701-6A7F-7F423D464648}"/>
              </a:ext>
            </a:extLst>
          </p:cNvPr>
          <p:cNvSpPr txBox="1"/>
          <p:nvPr/>
        </p:nvSpPr>
        <p:spPr>
          <a:xfrm>
            <a:off x="943660" y="898474"/>
            <a:ext cx="96268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</a:rPr>
              <a:t>Baseline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</a:rPr>
              <a:t> - </a:t>
            </a: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Comparison of Image Restoration Methods (Classical vs </a:t>
            </a:r>
            <a:r>
              <a:rPr lang="en-GB" sz="2400" kern="0" dirty="0" err="1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DnCNN</a:t>
            </a: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)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F166E-41E0-9FD9-CA58-C0802CE8E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43" y="2370124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C4B9C-6C88-FFCD-AC4E-CF62155AEED0}"/>
              </a:ext>
            </a:extLst>
          </p:cNvPr>
          <p:cNvSpPr txBox="1"/>
          <p:nvPr/>
        </p:nvSpPr>
        <p:spPr>
          <a:xfrm>
            <a:off x="943660" y="275463"/>
            <a:ext cx="8236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20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CD326-24CC-EE23-3E8E-8E13065C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29DBB9-B374-4531-01E6-2AFBB45E9A36}"/>
              </a:ext>
            </a:extLst>
          </p:cNvPr>
          <p:cNvSpPr txBox="1"/>
          <p:nvPr/>
        </p:nvSpPr>
        <p:spPr>
          <a:xfrm>
            <a:off x="431596" y="422986"/>
            <a:ext cx="8236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So Far &amp; Next Steps 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FEE5C-7898-1B8E-A086-2BFCA12C8000}"/>
              </a:ext>
            </a:extLst>
          </p:cNvPr>
          <p:cNvSpPr txBox="1"/>
          <p:nvPr/>
        </p:nvSpPr>
        <p:spPr>
          <a:xfrm>
            <a:off x="4762195" y="2845612"/>
            <a:ext cx="757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 CNN-Transformer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1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092A-98BA-464D-92E9-04A34155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9AAB9-3F18-1CF3-43DE-F5B0A1DDA318}"/>
              </a:ext>
            </a:extLst>
          </p:cNvPr>
          <p:cNvSpPr txBox="1"/>
          <p:nvPr/>
        </p:nvSpPr>
        <p:spPr>
          <a:xfrm>
            <a:off x="202018" y="89063"/>
            <a:ext cx="7442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References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9634A8-3811-68EB-F651-A43DFD475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16" y="837287"/>
            <a:ext cx="972256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Li, F.-F., Johnson, J., &amp; </a:t>
            </a:r>
            <a:r>
              <a:rPr lang="en-US" sz="1200" dirty="0" err="1"/>
              <a:t>Karpathy</a:t>
            </a:r>
            <a:r>
              <a:rPr lang="en-US" sz="1200" dirty="0"/>
              <a:t>, A. (n.d.). </a:t>
            </a:r>
            <a:r>
              <a:rPr lang="en-US" sz="1200" i="1" dirty="0"/>
              <a:t>CS231n: Deep learning for computer vision</a:t>
            </a:r>
            <a:r>
              <a:rPr lang="en-US" sz="1200" dirty="0"/>
              <a:t>. Stanford University. Retrieved November 7, 2025, from </a:t>
            </a:r>
            <a:r>
              <a:rPr lang="en-US" sz="1200" dirty="0">
                <a:hlinkClick r:id="rId2"/>
              </a:rPr>
              <a:t>http://cs231n.stanford.edu/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Vaswani, A., </a:t>
            </a:r>
            <a:r>
              <a:rPr lang="en-US" sz="1200" dirty="0" err="1"/>
              <a:t>Shazeer</a:t>
            </a:r>
            <a:r>
              <a:rPr lang="en-US" sz="1200" dirty="0"/>
              <a:t>, N., Parmar, N., </a:t>
            </a:r>
            <a:r>
              <a:rPr lang="en-US" sz="1200" dirty="0" err="1"/>
              <a:t>Uszkoreit</a:t>
            </a:r>
            <a:r>
              <a:rPr lang="en-US" sz="1200" dirty="0"/>
              <a:t>, J., Jones, L., Gomez, A. N., Kaiser, Ł., &amp; </a:t>
            </a:r>
            <a:r>
              <a:rPr lang="en-US" sz="1200" dirty="0" err="1"/>
              <a:t>Polosukhin</a:t>
            </a:r>
            <a:r>
              <a:rPr lang="en-US" sz="1200" dirty="0"/>
              <a:t>, I. (2017). </a:t>
            </a:r>
            <a:r>
              <a:rPr lang="en-US" sz="1200" i="1" dirty="0"/>
              <a:t>Attention is all you need</a:t>
            </a:r>
            <a:r>
              <a:rPr lang="en-US" sz="1200" dirty="0"/>
              <a:t>. In </a:t>
            </a:r>
            <a:r>
              <a:rPr lang="en-US" sz="1200" i="1" dirty="0"/>
              <a:t>Advances in Neural Information Processing Systems</a:t>
            </a:r>
            <a:r>
              <a:rPr lang="en-US" sz="1200" dirty="0"/>
              <a:t> (Vol. 30). </a:t>
            </a:r>
            <a:r>
              <a:rPr lang="en-US" sz="1200" dirty="0">
                <a:hlinkClick r:id="rId3"/>
              </a:rPr>
              <a:t>https://arxiv.org/abs/1706.03762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Dosovitskiy</a:t>
            </a:r>
            <a:r>
              <a:rPr lang="en-US" sz="1200" dirty="0"/>
              <a:t>, A., Beyer, L., Kolesnikov, A., Weissenborn, D., Zhai, X., </a:t>
            </a:r>
            <a:r>
              <a:rPr lang="en-US" sz="1200" dirty="0" err="1"/>
              <a:t>Unterthiner</a:t>
            </a:r>
            <a:r>
              <a:rPr lang="en-US" sz="1200" dirty="0"/>
              <a:t>, T., Dehghani, M., </a:t>
            </a:r>
            <a:r>
              <a:rPr lang="en-US" sz="1200" dirty="0" err="1"/>
              <a:t>Minderer</a:t>
            </a:r>
            <a:r>
              <a:rPr lang="en-US" sz="1200" dirty="0"/>
              <a:t>, M., </a:t>
            </a:r>
            <a:r>
              <a:rPr lang="en-US" sz="1200" dirty="0" err="1"/>
              <a:t>Heigold</a:t>
            </a:r>
            <a:r>
              <a:rPr lang="en-US" sz="1200" dirty="0"/>
              <a:t>, G., Gelly, S., </a:t>
            </a:r>
            <a:r>
              <a:rPr lang="en-US" sz="1200" dirty="0" err="1"/>
              <a:t>Uszkoreit</a:t>
            </a:r>
            <a:r>
              <a:rPr lang="en-US" sz="1200" dirty="0"/>
              <a:t>, J., &amp; </a:t>
            </a:r>
            <a:r>
              <a:rPr lang="en-US" sz="1200" dirty="0" err="1"/>
              <a:t>Houlsby</a:t>
            </a:r>
            <a:r>
              <a:rPr lang="en-US" sz="1200" dirty="0"/>
              <a:t>, N. (2021). </a:t>
            </a:r>
            <a:r>
              <a:rPr lang="en-US" sz="1200" i="1" dirty="0"/>
              <a:t>An image is worth 16×16 words: Transformers for image recognition at scale</a:t>
            </a:r>
            <a:r>
              <a:rPr lang="en-US" sz="1200" dirty="0"/>
              <a:t>. </a:t>
            </a:r>
            <a:r>
              <a:rPr lang="en-US" sz="1200" dirty="0">
                <a:hlinkClick r:id="rId4"/>
              </a:rPr>
              <a:t>https://arxiv.org/abs/2010.11929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Zhang, K., Zuo, W., Chen, Y., Meng, D., &amp; Zhang, L. (2017). </a:t>
            </a:r>
            <a:r>
              <a:rPr lang="en-US" sz="1200" i="1" dirty="0"/>
              <a:t>Beyond a Gaussian denoiser: Residual learning of deep CNN for image denoising (</a:t>
            </a:r>
            <a:r>
              <a:rPr lang="en-US" sz="1200" i="1" dirty="0" err="1"/>
              <a:t>DnCNN</a:t>
            </a:r>
            <a:r>
              <a:rPr lang="en-US" sz="1200" i="1" dirty="0"/>
              <a:t>)</a:t>
            </a:r>
            <a:r>
              <a:rPr lang="en-US" sz="1200" dirty="0"/>
              <a:t>. In </a:t>
            </a:r>
            <a:r>
              <a:rPr lang="en-US" sz="1200" i="1" dirty="0"/>
              <a:t>IEEE Conference on Computer Vision and Pattern Recognition (CVPR)</a:t>
            </a:r>
            <a:r>
              <a:rPr lang="en-US" sz="1200" dirty="0"/>
              <a:t>. </a:t>
            </a:r>
            <a:r>
              <a:rPr lang="en-US" sz="1200" dirty="0">
                <a:hlinkClick r:id="rId5"/>
              </a:rPr>
              <a:t>https://doi.org/10.1109/CVPR.2017.163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Levin, A., Weiss, Y., Durand, F., &amp; Freeman, W. T. (2009). </a:t>
            </a:r>
            <a:r>
              <a:rPr lang="en-US" sz="1200" i="1" dirty="0"/>
              <a:t>Understanding and evaluating blind deconvolution algorithms</a:t>
            </a:r>
            <a:r>
              <a:rPr lang="en-US" sz="1200" dirty="0"/>
              <a:t>. In </a:t>
            </a:r>
            <a:r>
              <a:rPr lang="en-US" sz="1200" i="1" dirty="0"/>
              <a:t>IEEE Conference on Computer Vision and Pattern Recognition (CVPR)</a:t>
            </a:r>
            <a:r>
              <a:rPr lang="en-US" sz="1200" dirty="0"/>
              <a:t>. </a:t>
            </a:r>
            <a:r>
              <a:rPr lang="en-US" sz="1200" dirty="0">
                <a:hlinkClick r:id="rId6"/>
              </a:rPr>
              <a:t>https://doi.org/10.1109/CVPR.2009.5206834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Dong, C., Loy, C. C., He, K., &amp; Tang, X. (2014). </a:t>
            </a:r>
            <a:r>
              <a:rPr lang="en-US" sz="1200" i="1" dirty="0"/>
              <a:t>Learning a deep convolutional network for image super-resolution (SRCNN)</a:t>
            </a:r>
            <a:r>
              <a:rPr lang="en-US" sz="1200" dirty="0"/>
              <a:t>. In </a:t>
            </a:r>
            <a:r>
              <a:rPr lang="en-US" sz="1200" i="1" dirty="0"/>
              <a:t>European Conference on Computer Vision (ECCV)</a:t>
            </a:r>
            <a:r>
              <a:rPr lang="en-US" sz="1200" dirty="0"/>
              <a:t>. </a:t>
            </a:r>
            <a:r>
              <a:rPr lang="en-US" sz="1200" dirty="0">
                <a:hlinkClick r:id="rId7"/>
              </a:rPr>
              <a:t>https://doi.org/10.1007/978-3-319-10593-2_13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Elad, M., Starck, J.-L., </a:t>
            </a:r>
            <a:r>
              <a:rPr lang="en-US" sz="1200" dirty="0" err="1"/>
              <a:t>Querre</a:t>
            </a:r>
            <a:r>
              <a:rPr lang="en-US" sz="1200" dirty="0"/>
              <a:t>, P., &amp; Donoho, D. (2005). </a:t>
            </a:r>
            <a:r>
              <a:rPr lang="en-US" sz="1200" i="1" dirty="0"/>
              <a:t>Simultaneous cartoon and texture image inpainting using morphological component analysis</a:t>
            </a:r>
            <a:r>
              <a:rPr lang="en-US" sz="1200" dirty="0"/>
              <a:t>. </a:t>
            </a:r>
            <a:r>
              <a:rPr lang="en-US" sz="1200" i="1" dirty="0"/>
              <a:t>Applied and Computational Harmonic Analysis</a:t>
            </a:r>
            <a:r>
              <a:rPr lang="en-US" sz="1200" dirty="0"/>
              <a:t>, 19(3), 340–358. </a:t>
            </a:r>
            <a:r>
              <a:rPr lang="en-US" sz="1200" dirty="0">
                <a:hlinkClick r:id="rId8"/>
              </a:rPr>
              <a:t>https://doi.org/10.1016/j.acha.2005.02.003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Dong, C., Loy, C. C., &amp; Tang, X. (2015). </a:t>
            </a:r>
            <a:r>
              <a:rPr lang="en-US" sz="1200" i="1" dirty="0"/>
              <a:t>Compression artifacts reduction by a deep convolutional network</a:t>
            </a:r>
            <a:r>
              <a:rPr lang="en-US" sz="1200" dirty="0"/>
              <a:t>. In </a:t>
            </a:r>
            <a:r>
              <a:rPr lang="en-US" sz="1200" i="1" dirty="0"/>
              <a:t>IEEE International Conference on Computer Vision (ICCV)</a:t>
            </a:r>
            <a:r>
              <a:rPr lang="en-US" sz="1200" dirty="0"/>
              <a:t>. </a:t>
            </a:r>
            <a:r>
              <a:rPr lang="en-US" sz="1200" dirty="0">
                <a:hlinkClick r:id="rId9"/>
              </a:rPr>
              <a:t>https://doi.org/10.1109/ICCV.2015.333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Debevec, P., &amp; Malik, J. (1997). </a:t>
            </a:r>
            <a:r>
              <a:rPr lang="en-US" sz="1200" i="1" dirty="0"/>
              <a:t>Recovering high dynamic range radiance maps from photographs</a:t>
            </a:r>
            <a:r>
              <a:rPr lang="en-US" sz="1200" dirty="0"/>
              <a:t>. In </a:t>
            </a:r>
            <a:r>
              <a:rPr lang="en-US" sz="1200" i="1" dirty="0"/>
              <a:t>Proceedings of SIGGRAPH</a:t>
            </a:r>
            <a:r>
              <a:rPr lang="en-US" sz="1200" dirty="0"/>
              <a:t>. </a:t>
            </a:r>
            <a:r>
              <a:rPr lang="en-US" sz="1200" dirty="0">
                <a:hlinkClick r:id="rId10"/>
              </a:rPr>
              <a:t>https://doi.org/10.1145/258734.258884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503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7AE6-A203-BFFE-29DB-5DC33C07A2F7}"/>
              </a:ext>
            </a:extLst>
          </p:cNvPr>
          <p:cNvSpPr txBox="1"/>
          <p:nvPr/>
        </p:nvSpPr>
        <p:spPr>
          <a:xfrm>
            <a:off x="9338456" y="6340556"/>
            <a:ext cx="2486945" cy="27437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GB" sz="1002" dirty="0">
                <a:solidFill>
                  <a:schemeClr val="accent1"/>
                </a:solidFill>
                <a:latin typeface="BT Curve" panose="020B0503020203020204" pitchFamily="34" charset="0"/>
                <a:cs typeface="BT Curve" panose="020B0503020203020204" pitchFamily="34" charset="0"/>
              </a:rPr>
              <a:t>© British Telecommunications plc 2023</a:t>
            </a:r>
            <a:endParaRPr lang="en-GB" sz="993" b="0" i="0" dirty="0">
              <a:solidFill>
                <a:schemeClr val="accent1"/>
              </a:solidFill>
              <a:latin typeface="BT Curve" panose="020B0503020203020204" pitchFamily="34" charset="0"/>
              <a:cs typeface="BT Curve" panose="020B05030202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25E265-EC4A-E8D0-F807-E33541824D53}"/>
              </a:ext>
            </a:extLst>
          </p:cNvPr>
          <p:cNvSpPr txBox="1">
            <a:spLocks/>
          </p:cNvSpPr>
          <p:nvPr/>
        </p:nvSpPr>
        <p:spPr>
          <a:xfrm>
            <a:off x="1182417" y="5805025"/>
            <a:ext cx="9080809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/>
              <a:t>Thank You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0889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24DB-C7AF-3826-7D83-61BF0608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9EFA35-5462-F7CB-8C0A-E56CAFDF4DF1}"/>
              </a:ext>
            </a:extLst>
          </p:cNvPr>
          <p:cNvSpPr txBox="1"/>
          <p:nvPr/>
        </p:nvSpPr>
        <p:spPr>
          <a:xfrm>
            <a:off x="845458" y="729734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The Problem in the Real World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46987-5E14-E933-C2A6-8B9FFAB28AA1}"/>
              </a:ext>
            </a:extLst>
          </p:cNvPr>
          <p:cNvSpPr txBox="1"/>
          <p:nvPr/>
        </p:nvSpPr>
        <p:spPr>
          <a:xfrm>
            <a:off x="845457" y="1555820"/>
            <a:ext cx="10504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“A security camera at a 5G edge node sends compressed images to save bandwidth. When the image reaches the control </a:t>
            </a:r>
            <a:r>
              <a:rPr lang="en-GB" dirty="0" err="1"/>
              <a:t>center</a:t>
            </a:r>
            <a:r>
              <a:rPr lang="en-GB" dirty="0"/>
              <a:t> — it’s noisy and blurry. How can AI fix that?”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60CCCB-D400-54B8-04C0-F316FDE87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228" y="3093216"/>
            <a:ext cx="1973943" cy="2208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97046-8B55-4111-B45D-025820AC9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571" y="3093217"/>
            <a:ext cx="1973943" cy="220896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7F21D91-4DE8-FF9F-6392-3EB15B9AB663}"/>
              </a:ext>
            </a:extLst>
          </p:cNvPr>
          <p:cNvSpPr/>
          <p:nvPr/>
        </p:nvSpPr>
        <p:spPr>
          <a:xfrm>
            <a:off x="4412342" y="3810418"/>
            <a:ext cx="2090058" cy="774558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25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aacd67-ea26-4ed3-8414-595560f249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34277A651FD42B639DCF0F3F06F25" ma:contentTypeVersion="14" ma:contentTypeDescription="Create a new document." ma:contentTypeScope="" ma:versionID="4678843b03df4ef6de1fceca7c5365d5">
  <xsd:schema xmlns:xsd="http://www.w3.org/2001/XMLSchema" xmlns:xs="http://www.w3.org/2001/XMLSchema" xmlns:p="http://schemas.microsoft.com/office/2006/metadata/properties" xmlns:ns3="8eaacd67-ea26-4ed3-8414-595560f249e2" xmlns:ns4="4dd24d53-456e-4717-8451-ac79b49535d0" targetNamespace="http://schemas.microsoft.com/office/2006/metadata/properties" ma:root="true" ma:fieldsID="6f351a4396b2df0848e0484ea00b2af3" ns3:_="" ns4:_="">
    <xsd:import namespace="8eaacd67-ea26-4ed3-8414-595560f249e2"/>
    <xsd:import namespace="4dd24d53-456e-4717-8451-ac79b49535d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aacd67-ea26-4ed3-8414-595560f249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d24d53-456e-4717-8451-ac79b49535d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63E096-11C6-4197-95AD-E8BDB7FD0C1D}">
  <ds:schemaRefs>
    <ds:schemaRef ds:uri="http://purl.org/dc/elements/1.1/"/>
    <ds:schemaRef ds:uri="http://www.w3.org/XML/1998/namespace"/>
    <ds:schemaRef ds:uri="4dd24d53-456e-4717-8451-ac79b49535d0"/>
    <ds:schemaRef ds:uri="http://schemas.microsoft.com/office/2006/documentManagement/types"/>
    <ds:schemaRef ds:uri="http://purl.org/dc/terms/"/>
    <ds:schemaRef ds:uri="http://schemas.microsoft.com/office/infopath/2007/PartnerControls"/>
    <ds:schemaRef ds:uri="8eaacd67-ea26-4ed3-8414-595560f249e2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98C6EB9-0D18-44D3-8F43-92CDC6DCE6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aacd67-ea26-4ed3-8414-595560f249e2"/>
    <ds:schemaRef ds:uri="4dd24d53-456e-4717-8451-ac79b49535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2151CA-B09E-490D-8414-2D091D3C81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17365</TotalTime>
  <Words>2924</Words>
  <Application>Microsoft Office PowerPoint</Application>
  <PresentationFormat>Widescreen</PresentationFormat>
  <Paragraphs>369</Paragraphs>
  <Slides>46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Abadi</vt:lpstr>
      <vt:lpstr>Aptos</vt:lpstr>
      <vt:lpstr>Aptos Display</vt:lpstr>
      <vt:lpstr>Arial</vt:lpstr>
      <vt:lpstr>BT Curve</vt:lpstr>
      <vt:lpstr>BT Curve Headline</vt:lpstr>
      <vt:lpstr>Cambria Math</vt:lpstr>
      <vt:lpstr>Office Theme</vt:lpstr>
      <vt:lpstr>AI Image Restoration for 5G Edge Systems  Lightweight Hybrid CNN–Transformer for Real-Time Reconstruction  Efficient • Real-Time • Edge-Ready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2: Methodology - Hybrid CNN–Transformer Restoration</vt:lpstr>
      <vt:lpstr>PowerPoint Presentation</vt:lpstr>
      <vt:lpstr>PowerPoint Presentation</vt:lpstr>
      <vt:lpstr>PowerPoint Presentation</vt:lpstr>
      <vt:lpstr>PowerPoint Presentation</vt:lpstr>
      <vt:lpstr>Part 3:  Result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Inderjit Singh Chauhan</dc:creator>
  <cp:lastModifiedBy>Inderjit Singh Chauhan</cp:lastModifiedBy>
  <cp:revision>48</cp:revision>
  <dcterms:created xsi:type="dcterms:W3CDTF">2025-08-29T15:51:44Z</dcterms:created>
  <dcterms:modified xsi:type="dcterms:W3CDTF">2026-04-18T12:24:46Z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0x0101004AB34277A651FD42B639DCF0F3F06F25</vt:lpwstr>
  </property>
  <property fmtid="{D5CDD505-2E9C-101B-9397-08002B2CF9AE}" pid="3" name="MSIP_Label_55818d02-8d25-4bb9-b27c-e4db64670887_Enabled">
    <vt:lpwstr>true</vt:lpwstr>
  </property>
  <property fmtid="{D5CDD505-2E9C-101B-9397-08002B2CF9AE}" pid="4" name="MSIP_Label_55818d02-8d25-4bb9-b27c-e4db64670887_SetDate">
    <vt:lpwstr>2025-10-05T03:49:09Z</vt:lpwstr>
  </property>
  <property fmtid="{D5CDD505-2E9C-101B-9397-08002B2CF9AE}" pid="5" name="MSIP_Label_55818d02-8d25-4bb9-b27c-e4db64670887_Method">
    <vt:lpwstr>Standard</vt:lpwstr>
  </property>
  <property fmtid="{D5CDD505-2E9C-101B-9397-08002B2CF9AE}" pid="6" name="MSIP_Label_55818d02-8d25-4bb9-b27c-e4db64670887_Name">
    <vt:lpwstr>55818d02-8d25-4bb9-b27c-e4db64670887</vt:lpwstr>
  </property>
  <property fmtid="{D5CDD505-2E9C-101B-9397-08002B2CF9AE}" pid="7" name="MSIP_Label_55818d02-8d25-4bb9-b27c-e4db64670887_SiteId">
    <vt:lpwstr>a7f35688-9c00-4d5e-ba41-29f146377ab0</vt:lpwstr>
  </property>
  <property fmtid="{D5CDD505-2E9C-101B-9397-08002B2CF9AE}" pid="8" name="MSIP_Label_55818d02-8d25-4bb9-b27c-e4db64670887_ActionId">
    <vt:lpwstr>6de50b47-b976-4f1d-abf1-5fa879b19489</vt:lpwstr>
  </property>
  <property fmtid="{D5CDD505-2E9C-101B-9397-08002B2CF9AE}" pid="9" name="MSIP_Label_55818d02-8d25-4bb9-b27c-e4db64670887_ContentBits">
    <vt:lpwstr>3</vt:lpwstr>
  </property>
  <property fmtid="{D5CDD505-2E9C-101B-9397-08002B2CF9AE}" pid="10" name="MSIP_Label_55818d02-8d25-4bb9-b27c-e4db64670887_Tag">
    <vt:lpwstr>10, 3, 0, 1</vt:lpwstr>
  </property>
  <property fmtid="{D5CDD505-2E9C-101B-9397-08002B2CF9AE}" pid="11" name="ClassificationContentMarkingFooterLocations">
    <vt:lpwstr>Office Theme:10</vt:lpwstr>
  </property>
  <property fmtid="{D5CDD505-2E9C-101B-9397-08002B2CF9AE}" pid="12" name="ClassificationContentMarkingFooterText">
    <vt:lpwstr>General</vt:lpwstr>
  </property>
  <property fmtid="{D5CDD505-2E9C-101B-9397-08002B2CF9AE}" pid="13" name="ClassificationContentMarkingHeaderLocations">
    <vt:lpwstr>Office Theme:9</vt:lpwstr>
  </property>
  <property fmtid="{D5CDD505-2E9C-101B-9397-08002B2CF9AE}" pid="14" name="ClassificationContentMarkingHeaderText">
    <vt:lpwstr>General</vt:lpwstr>
  </property>
</Properties>
</file>